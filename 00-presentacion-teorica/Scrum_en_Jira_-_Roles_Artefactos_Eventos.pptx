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Sesión de puente entre la teoría de Scrum (ya vista en Unidad I y formalizada en el programa de Unidad II) y el taller práctico de Jira. Objetivo de esta presentación: repasar Roles, Artefactos y Eventos SIN mencionar Jira todavía, y solo al final hacer el mapeo completo, siguiendo una sola historia de usuario de principio a fin. Evitar el error de enseñar 'Scrum según Jira' — la herramienta simplifica y a veces distorsiona conceptos (por ejemplo, no separa con fuerza los roles), así que el marco mental debe fijarse primero en la metodología pura.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del repaso. Recordar que esto ya lo vieron en la Unidad I (panorama XP/Scrum) y quedó formalizado en el programa reescrito de la Unidad II — aquí es repaso con fines de aplicación práctica, no contenido nuevo. Usaremos como hilo conductor una sola historia de usuario a lo largo de toda la presentación: 'Como alumno, quiero inscribirme a mis materias del semestre, para asegurar mi lugar en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Product Owner no es 'el jefe del equipo' — es la persona responsable de que el equipo trabaje en lo más valioso primero. Es una sola persona (no un comité), para evitar prioridades contradictorias. En nuestro contexto de cliente real, este rol lo juega literalmente el cliente — no un alumno simulándolo — lo cual es una ventaja pedagógica enorme frente a un proyecto de juguete.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Concepto que más se malinterpreta: el Scrum Master NO asigna tareas ni evalúa el desempeño individual — es un 'líder servidor'. En equipos de alumnos, este rol suele rotar entre sprints, lo cual es una práctica sana: todos experimentan facilitar, no solo ejecutar.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 equipo de alumnos de 4-6 personas, 'multifuncional' no significa que todos sepan todo — significa que el equipo, en conjunto, puede cubrir lo necesario, y que las tareas no quedan encasilladas por rol fijo ('yo solo hago frontend'). Conecta directamente con el taller de Git: la trazabilidad de autoría que configuramos ahí sirve exactamente para verificar que esta responsabilidad colectiva se está dando en la práctica, no solo en el papel.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la Parte 1. Antes de avanzar a Artefactos, confirmar que el grupo distingue los tres roles con claridad — es común que a esta altura alguien confunda Scrum Master con 'líder de equipo' en el sentido tradicional; vale la pena aclararlo aquí antes de seguir.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ya saben quién hace qué (roles); ahora, qué es lo que en realidad se gestiona y se produce (artefactos). Aquí es donde entra formalmente la historia de usuario — como el contenido del backlog, no como una categoría aparte de Scrum.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en 'viva': el Product Backlog de la Unidad II no es un documento de requerimientos congelado como en Ingeniería de Requerimientos clásica — cambia de semana a semana conforme el cliente aprende qué necesita realmente al ver avances.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punto que vale la pena remarcar explícitamente: las historias de usuario a veces se enseñan como si fueran 'la cuarta pieza' de Scrum junto a Roles/Eventos/Artefactos — no lo son. Viven DENTRO del Product Backlog. Esta historia de ejemplo la vamos a seguir hasta el final de la presentación, a través de Sprint Backlog, el Sprint, y su mapeo completo en Jira.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Puente directo con Ingeniería de Requerimientos: el criterio INVEST no es nuevo para ellos, aquí solo se reaplica en el contexto de Scrum. Vale la pena detenerse en las 3 C's — es un modelo mental que muchos alumnos no conocen y que previene el error más común: tratar la tarjeta de Jira como si fuera la especificación completa, cuando en realidad es solo un gancho para la conversación con el Product Owner que llena el detalle just-in-time.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Contraste directo con lo que ya vieron en Ingeniería de Requerimientos clásica (Sommerville/Pressman) — no como 'lo viejo contra lo nuevo', sino como dos herramientas con propósitos distintos. Aprovechar para nombrar lo que NO es una historia de usuario, con un ejemplo malo real: '❌ Como desarrollador, quiero refactorizar la base de datos' — es una tarea técnica sin valor visible para el usuario final, un anti-patrón muy común en equipos que apenas empiezan. Contrastar con la buena: '✅ Como alumno, quiero inscribirme a mis materias del semestre, para asegurar mi lugar en clase' — nuestra historia de ejemplo de toda la presentación. Tampoco es un caso de uso detallado con flujos alternos, ni un mockup de interfaz — ambos son artefactos válidos, pero distintos, que pueden acompañar a la historia sin ser la historia misma.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Diferencia clave con el Product Backlog: el Sprint Backlog es relativamente estable durante el sprint (el equipo se comprometió a ese alcance), mientras que el Product Backlog cambia todo el tiempo. Nuestra historia de ejemplo, una vez que entra a un sprint, pasa a vivir aquí.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Definition of Done es, en la práctica, uno de los artefactos más subestimados por equipos nuevos — vale la pena que cada equipo la escriba explícitamente antes de su primer sprint (ej. 'código en main, con pruebas básicas, revisado por al menos un compañero, sin errores visibles'). Conecta directamente con el flujo de Pull Request que ya practicaron en Git: un PR aprobado y fusionado es, en buena medida, la evidencia de que se cumplió la DoD.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la Parte 2. La historia de nuestro ejemplo ya recorrió Product Backlog → Sprint Backlog conceptualmente; falta verla convertirse en parte del Incremento — eso pasa a través de los Eventos, tema de la siguiente 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Última pieza teórica antes del mapeo a Jira: los eventos son lo que mueve una historia de usuario a través de los artefactos que ya vimos. Aquí se cierra el ciclo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Sprint es el 'contenedor' de todo lo demás — Planning, Daily Scrum, Review y Retrospectiva ocurren siempre dentro de los límites de un sprint. Su duración fija es, de hecho, la variable 'Tiempo' que ya vimos como fija en el triángulo de hierro reinterpretado (Unidad I, Sesión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 exactamente donde nuestra historia de ejemplo (inscripción a materias) pasaría del Product Backlog al Sprint Backlog — el equipo la revisa, confirma que está lista (Definition of Ready, si la usan), y se compromete a completarla en este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común en equipos nuevos: convertir el Daily Scrum en una junta de 45 minutos donde cada quien explica su código a detalle. Debe ser corto y orientado a coordinación, no a resolución de problemas — si algo requiere discusión larga, se agenda aparte, después del Daily.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evento donde el cliente real (la profesora de enfermería) participa directamente — no solo al inicio y al final del proyecto, como en un esquema clásico de entrevistas, sino en cada cierre de sprint. Es la diferencia central entre RE clásica y RE ágil que ya discutimos.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 la pena adelantar aquí algo que van a confirmar en el taller de Jira: la Retrospectiva no tiene una pantalla dedicada en la herramienta. Jira registra QUÉ se hizo; la conversación de CÓMO mejorar como equipo sigue siendo, deliberadamente, un espacio fuera de cualquier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la Parte 3, diagrama de síntesis. Recorrer el ciclo completo en voz alta usando la historia de ejemplo: entra en Planning, se trabaja durante los Dailies, se demuestra en la Review, el equipo reflexiona en la Retrospectiva, y el ciclo vuelve a empezar con el siguiente Sprint. Este mismo ciclo es exactamente lo que van a ver representado dentro de Jira en la siguiente parte — mismos eventos, ahora con pantallas específicas.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 donde por fin aparece Jira. Seguimos la misma historia de ejemplo ('Como alumno, quiero inscribirme a mis materias...') a través de las pantallas reales de la herramienta — el mapeo que Carlos pidió, ahora con teoría ya asentada de fondo.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Corresponde a la Sección 3 del Curso Relámpago de Jira (construyendo el Backlog). Esta vista es el Product Backlog puro — mapeo directo: Product Backlog (Scrum) = Backlog (Jira). La clave 'SIE-12' que le asigna Jira automáticamente a cada historia es, de hecho, la misma clave que después van a usar en el nombre de su rama de Git (ej. git checkout -b SIE-12-formulario-inscripcion) — retomar aquí la liga con GitHub que se explica en la Sección 6 del curso relámpago.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Mapeo: el evento Sprint Planning (Scrum) = la acción de mover historias del Backlog al bloque de Sprint + botón 'Start sprint' (Jira). Es importante remarcar que Jira no 'hace' la planeación — solo registra la decisión que el equipo ya tomó hablando entre sí. La herramienta es el espejo del evento, no el evento en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Mapeo: Sprint Backlog en ejecución (Scrum) = vista Board (Jira). El movimiento de tarjetas entre columnas no reemplaza el Daily Scrum — es el apoyo visual que el equipo usa DURANTE esa conversación de pie, no un chat asíncrono que sustituye la sincronización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recorrido de la historia de ejemplo. El panel 'Development' es la Sección 6 del Curso Relámpago de Jira — el puente gratuito entre Jira y GitHub, usando la convención de nombre de rama que ya practicaron. Vale la pena remarcar: nada de esto requirió captura manual doble — la trazabilidad completa (de la intención del cliente al código, y de vuelta) surge solo de seguir la convención de nombres.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Tabla de referencia rápida — buen cierre para dejar proyectado mientras el grupo hace preguntas antes de pasar a la práctica hands-on con sus propias cuentas de Jira.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la presentación, puente hacia la sesión práctica. A partir de aquí, cada historia de usuario del proyecto con cliente se trabaja siguiendo exactamente este recorrido: Backlog → Sprint → Board → Review → Incremento, con el código viviendo en GitHub y visible dentro de Jira.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914400" y="2194560"/>
            <a:ext cx="10360152" cy="457200"/>
          </a:xfrm>
          <a:prstGeom prst="rect">
            <a:avLst/>
          </a:prstGeom>
          <a:noFill/>
          <a:ln/>
        </p:spPr>
        <p:txBody>
          <a:bodyPr wrap="square" lIns="0" tIns="0" rIns="0" bIns="0" rtlCol="0" anchor="ctr"/>
          <a:lstStyle/>
          <a:p>
            <a:pPr algn="ctr" indent="0" marL="0">
              <a:buNone/>
            </a:pPr>
            <a:r>
              <a:rPr lang="en-US" sz="1500" spc="300" kern="0" dirty="0">
                <a:solidFill>
                  <a:srgbClr val="CADCFC"/>
                </a:solidFill>
                <a:latin typeface="Calibri" pitchFamily="34" charset="0"/>
                <a:ea typeface="Calibri" pitchFamily="34" charset="-122"/>
                <a:cs typeface="Calibri" pitchFamily="34" charset="-120"/>
              </a:rPr>
              <a:t>MÉTODOS DE DESARROLLO ÁGIL</a:t>
            </a:r>
            <a:endParaRPr lang="en-US" sz="1500" dirty="0"/>
          </a:p>
        </p:txBody>
      </p:sp>
      <p:sp>
        <p:nvSpPr>
          <p:cNvPr id="3" name="Text 1"/>
          <p:cNvSpPr/>
          <p:nvPr/>
        </p:nvSpPr>
        <p:spPr>
          <a:xfrm>
            <a:off x="914400" y="2697480"/>
            <a:ext cx="10360152" cy="914400"/>
          </a:xfrm>
          <a:prstGeom prst="rect">
            <a:avLst/>
          </a:prstGeom>
          <a:noFill/>
          <a:ln/>
        </p:spPr>
        <p:txBody>
          <a:bodyPr wrap="square" lIns="0" tIns="0" rIns="0" bIns="0"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Scrum en Jira</a:t>
            </a:r>
            <a:endParaRPr lang="en-US" sz="4200" dirty="0"/>
          </a:p>
        </p:txBody>
      </p:sp>
      <p:sp>
        <p:nvSpPr>
          <p:cNvPr id="4" name="Text 2"/>
          <p:cNvSpPr/>
          <p:nvPr/>
        </p:nvSpPr>
        <p:spPr>
          <a:xfrm>
            <a:off x="914400" y="3611880"/>
            <a:ext cx="10360152" cy="640080"/>
          </a:xfrm>
          <a:prstGeom prst="rect">
            <a:avLst/>
          </a:prstGeom>
          <a:noFill/>
          <a:ln/>
        </p:spPr>
        <p:txBody>
          <a:bodyPr wrap="square" lIns="0" tIns="0" rIns="0" bIns="0" rtlCol="0" anchor="ctr"/>
          <a:lstStyle/>
          <a:p>
            <a:pPr algn="ctr" indent="0" marL="0">
              <a:buNone/>
            </a:pPr>
            <a:r>
              <a:rPr lang="en-US" sz="1800" dirty="0">
                <a:solidFill>
                  <a:srgbClr val="CADCFC"/>
                </a:solidFill>
                <a:latin typeface="Calibri" pitchFamily="34" charset="0"/>
                <a:ea typeface="Calibri" pitchFamily="34" charset="-122"/>
                <a:cs typeface="Calibri" pitchFamily="34" charset="-120"/>
              </a:rPr>
              <a:t>Roles, Artefactos y Eventos — del marco teórico a la herramienta</a:t>
            </a:r>
            <a:endParaRPr lang="en-US" sz="1800" dirty="0"/>
          </a:p>
        </p:txBody>
      </p:sp>
      <p:sp>
        <p:nvSpPr>
          <p:cNvPr id="5" name="Text 3"/>
          <p:cNvSpPr/>
          <p:nvPr/>
        </p:nvSpPr>
        <p:spPr>
          <a:xfrm>
            <a:off x="914400" y="5120640"/>
            <a:ext cx="10360152" cy="731520"/>
          </a:xfrm>
          <a:prstGeom prst="rect">
            <a:avLst/>
          </a:prstGeom>
          <a:noFill/>
          <a:ln/>
        </p:spPr>
        <p:txBody>
          <a:bodyPr wrap="square" lIns="0" tIns="0" rIns="0" bIns="0" rtlCol="0" anchor="ctr"/>
          <a:lstStyle/>
          <a:p>
            <a:pPr algn="ctr" indent="0" marL="0">
              <a:lnSpc>
                <a:spcPct val="120000"/>
              </a:lnSpc>
              <a:buNone/>
            </a:pPr>
            <a:r>
              <a:rPr lang="en-US" sz="1300" dirty="0">
                <a:solidFill>
                  <a:srgbClr val="CADCFC"/>
                </a:solidFill>
                <a:latin typeface="Calibri" pitchFamily="34" charset="0"/>
                <a:ea typeface="Calibri" pitchFamily="34" charset="-122"/>
                <a:cs typeface="Calibri" pitchFamily="34" charset="-120"/>
              </a:rPr>
              <a:t>Lic. en Informática y Tecnologías Computacionales</a:t>
            </a:r>
            <a:endParaRPr lang="en-US" sz="1300" dirty="0"/>
          </a:p>
          <a:p>
            <a:pPr algn="ctr" indent="0" marL="0">
              <a:lnSpc>
                <a:spcPct val="120000"/>
              </a:lnSpc>
              <a:buNone/>
            </a:pPr>
            <a:r>
              <a:rPr lang="en-US" sz="1300" dirty="0">
                <a:solidFill>
                  <a:srgbClr val="CADCFC"/>
                </a:solidFill>
                <a:latin typeface="Calibri" pitchFamily="34" charset="0"/>
                <a:ea typeface="Calibri" pitchFamily="34" charset="-122"/>
                <a:cs typeface="Calibri" pitchFamily="34" charset="-120"/>
              </a:rPr>
              <a:t>Universidad Autónoma de Aguascalientes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2468880"/>
            <a:ext cx="11091672" cy="548640"/>
          </a:xfrm>
          <a:prstGeom prst="rect">
            <a:avLst/>
          </a:prstGeom>
          <a:noFill/>
          <a:ln/>
        </p:spPr>
        <p:txBody>
          <a:bodyPr wrap="square" lIns="0" tIns="0" rIns="0" bIns="0" rtlCol="0" anchor="ctr"/>
          <a:lstStyle/>
          <a:p>
            <a:pPr algn="ctr" indent="0" marL="0">
              <a:buNone/>
            </a:pPr>
            <a:r>
              <a:rPr lang="en-US" sz="1600" spc="300" kern="0" dirty="0">
                <a:solidFill>
                  <a:srgbClr val="CADCFC"/>
                </a:solidFill>
                <a:latin typeface="Calibri" pitchFamily="34" charset="0"/>
                <a:ea typeface="Calibri" pitchFamily="34" charset="-122"/>
                <a:cs typeface="Calibri" pitchFamily="34" charset="-120"/>
              </a:rPr>
              <a:t>PARTE 1</a:t>
            </a:r>
            <a:endParaRPr lang="en-US" sz="1600" dirty="0"/>
          </a:p>
        </p:txBody>
      </p:sp>
      <p:sp>
        <p:nvSpPr>
          <p:cNvPr id="3" name="Text 1"/>
          <p:cNvSpPr/>
          <p:nvPr/>
        </p:nvSpPr>
        <p:spPr>
          <a:xfrm>
            <a:off x="914400" y="3017520"/>
            <a:ext cx="10360152" cy="1463040"/>
          </a:xfrm>
          <a:prstGeom prst="rect">
            <a:avLst/>
          </a:prstGeom>
          <a:noFill/>
          <a:ln/>
        </p:spPr>
        <p:txBody>
          <a:bodyPr wrap="square" lIns="0" tIns="0" rIns="0" bIns="0" rtlCol="0" anchor="t"/>
          <a:lstStyle/>
          <a:p>
            <a:pPr algn="ctr" indent="0" marL="0">
              <a:buNone/>
            </a:pPr>
            <a:r>
              <a:rPr lang="en-US" sz="3200" b="1" dirty="0">
                <a:solidFill>
                  <a:srgbClr val="FFFFFF"/>
                </a:solidFill>
                <a:latin typeface="Cambria" pitchFamily="34" charset="0"/>
                <a:ea typeface="Cambria" pitchFamily="34" charset="-122"/>
                <a:cs typeface="Cambria" pitchFamily="34" charset="-120"/>
              </a:rPr>
              <a:t>Los Roles de Scrum</a:t>
            </a:r>
            <a:endParaRPr 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lIns="0" tIns="0" rIns="0" bIns="0" rtlCol="0" anchor="t"/>
          <a:lstStyle/>
          <a:p>
            <a:pPr algn="l" indent="0" marL="0">
              <a:buNone/>
            </a:pPr>
            <a:r>
              <a:rPr lang="en-US" sz="2800" b="1" dirty="0">
                <a:solidFill>
                  <a:srgbClr val="1E2761"/>
                </a:solidFill>
                <a:latin typeface="Cambria" pitchFamily="34" charset="0"/>
                <a:ea typeface="Cambria" pitchFamily="34" charset="-122"/>
                <a:cs typeface="Cambria" pitchFamily="34" charset="-120"/>
              </a:rPr>
              <a:t>Product Owner</a:t>
            </a:r>
            <a:endParaRPr lang="en-US" sz="2800" dirty="0"/>
          </a:p>
        </p:txBody>
      </p:sp>
      <p:sp>
        <p:nvSpPr>
          <p:cNvPr id="3" name="Text 1"/>
          <p:cNvSpPr/>
          <p:nvPr/>
        </p:nvSpPr>
        <p:spPr>
          <a:xfrm>
            <a:off x="548640" y="1554480"/>
            <a:ext cx="11091672" cy="448056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Dueño del Product Backlog — decide QUÉ se construye y en qué orden</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Representa la voz del cliente y del negocio ante el equipo</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Maximiza el valor del producto, priorizando constantemente</a:t>
            </a:r>
            <a:endParaRPr lang="en-US" sz="1700" dirty="0"/>
          </a:p>
          <a:p>
            <a:pPr marL="228600" indent="-228600">
              <a:lnSpc>
                <a:spcPct val="115000"/>
              </a:lnSpc>
              <a:spcAft>
                <a:spcPts val="1400"/>
              </a:spcAft>
              <a:buSzPct val="100000"/>
              <a:buChar char="•"/>
            </a:pPr>
            <a:r>
              <a:rPr lang="en-US" sz="1700" i="1" dirty="0">
                <a:solidFill>
                  <a:srgbClr val="222222"/>
                </a:solidFill>
                <a:latin typeface="Calibri" pitchFamily="34" charset="0"/>
                <a:ea typeface="Calibri" pitchFamily="34" charset="-122"/>
                <a:cs typeface="Calibri" pitchFamily="34" charset="-120"/>
              </a:rPr>
              <a:t>En nuestro proyecto: la profesora de enfermería, como Product Owner, decide qué historias entran primero al backlog</a:t>
            </a:r>
            <a:endParaRPr lang="en-US" sz="1700" dirty="0"/>
          </a:p>
        </p:txBody>
      </p:sp>
      <p:sp>
        <p:nvSpPr>
          <p:cNvPr id="4" name="Text 2"/>
          <p:cNvSpPr/>
          <p:nvPr/>
        </p:nvSpPr>
        <p:spPr>
          <a:xfrm>
            <a:off x="548640" y="6446520"/>
            <a:ext cx="11091672" cy="274320"/>
          </a:xfrm>
          <a:prstGeom prst="rect">
            <a:avLst/>
          </a:prstGeom>
          <a:noFill/>
          <a:ln/>
        </p:spPr>
        <p:txBody>
          <a:bodyPr wrap="square" lIns="0" tIns="0" rIns="0" bIns="0" rtlCol="0" anchor="ctr"/>
          <a:lstStyle/>
          <a:p>
            <a:pPr algn="l" indent="0" marL="0">
              <a:buNone/>
            </a:pPr>
            <a:endParaRPr lang="en-US" sz="1000" dirty="0"/>
          </a:p>
        </p:txBody>
      </p:sp>
      <p:sp>
        <p:nvSpPr>
          <p:cNvPr id="5" name="Text 3"/>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Scrum en Jira · Roles, Artefactos, Eventos y su Mapeo</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lIns="0" tIns="0" rIns="0" bIns="0" rtlCol="0" anchor="t"/>
          <a:lstStyle/>
          <a:p>
            <a:pPr algn="l" indent="0" marL="0">
              <a:buNone/>
            </a:pPr>
            <a:r>
              <a:rPr lang="en-US" sz="2800" b="1" dirty="0">
                <a:solidFill>
                  <a:srgbClr val="1E2761"/>
                </a:solidFill>
                <a:latin typeface="Cambria" pitchFamily="34" charset="0"/>
                <a:ea typeface="Cambria" pitchFamily="34" charset="-122"/>
                <a:cs typeface="Cambria" pitchFamily="34" charset="-120"/>
              </a:rPr>
              <a:t>Scrum Master</a:t>
            </a:r>
            <a:endParaRPr lang="en-US" sz="2800" dirty="0"/>
          </a:p>
        </p:txBody>
      </p:sp>
      <p:sp>
        <p:nvSpPr>
          <p:cNvPr id="3" name="Text 1"/>
          <p:cNvSpPr/>
          <p:nvPr/>
        </p:nvSpPr>
        <p:spPr>
          <a:xfrm>
            <a:off x="548640" y="1554480"/>
            <a:ext cx="11091672" cy="448056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Facilita el proceso — no es un gerente de proyecto ni un jefe</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Remueve impedimentos que bloquean al equipo</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Protege al equipo de interrupciones y distracciones externas</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Vela porque el equipo entienda y aplique bien el marco de Scrum</a:t>
            </a:r>
            <a:endParaRPr lang="en-US" sz="1700" dirty="0"/>
          </a:p>
        </p:txBody>
      </p:sp>
      <p:sp>
        <p:nvSpPr>
          <p:cNvPr id="4" name="Text 2"/>
          <p:cNvSpPr/>
          <p:nvPr/>
        </p:nvSpPr>
        <p:spPr>
          <a:xfrm>
            <a:off x="548640" y="6446520"/>
            <a:ext cx="11091672" cy="274320"/>
          </a:xfrm>
          <a:prstGeom prst="rect">
            <a:avLst/>
          </a:prstGeom>
          <a:noFill/>
          <a:ln/>
        </p:spPr>
        <p:txBody>
          <a:bodyPr wrap="square" lIns="0" tIns="0" rIns="0" bIns="0" rtlCol="0" anchor="ctr"/>
          <a:lstStyle/>
          <a:p>
            <a:pPr algn="l" indent="0" marL="0">
              <a:buNone/>
            </a:pPr>
            <a:endParaRPr lang="en-US" sz="1000" dirty="0"/>
          </a:p>
        </p:txBody>
      </p:sp>
      <p:sp>
        <p:nvSpPr>
          <p:cNvPr id="5" name="Text 3"/>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Scrum en Jira · Roles, Artefactos, Eventos y su Mapeo</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lIns="0" tIns="0" rIns="0" bIns="0" rtlCol="0" anchor="t"/>
          <a:lstStyle/>
          <a:p>
            <a:pPr algn="l" indent="0" marL="0">
              <a:buNone/>
            </a:pPr>
            <a:r>
              <a:rPr lang="en-US" sz="2800" b="1" dirty="0">
                <a:solidFill>
                  <a:srgbClr val="1E2761"/>
                </a:solidFill>
                <a:latin typeface="Cambria" pitchFamily="34" charset="0"/>
                <a:ea typeface="Cambria" pitchFamily="34" charset="-122"/>
                <a:cs typeface="Cambria" pitchFamily="34" charset="-120"/>
              </a:rPr>
              <a:t>Equipo de Desarrollo</a:t>
            </a:r>
            <a:endParaRPr lang="en-US" sz="2800" dirty="0"/>
          </a:p>
        </p:txBody>
      </p:sp>
      <p:sp>
        <p:nvSpPr>
          <p:cNvPr id="3" name="Text 1"/>
          <p:cNvSpPr/>
          <p:nvPr/>
        </p:nvSpPr>
        <p:spPr>
          <a:xfrm>
            <a:off x="548640" y="1554480"/>
            <a:ext cx="11091672" cy="448056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Auto-organizado — decide internamente CÓMO construir el incremento</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Multifuncional — entre todos cubren las habilidades necesarias (análisis, diseño, código, pruebas)</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Responsabilidad colectiva del resultado, no individual por tarea</a:t>
            </a:r>
            <a:endParaRPr lang="en-US" sz="1700" dirty="0"/>
          </a:p>
        </p:txBody>
      </p:sp>
      <p:sp>
        <p:nvSpPr>
          <p:cNvPr id="4" name="Text 2"/>
          <p:cNvSpPr/>
          <p:nvPr/>
        </p:nvSpPr>
        <p:spPr>
          <a:xfrm>
            <a:off x="548640" y="6446520"/>
            <a:ext cx="11091672" cy="274320"/>
          </a:xfrm>
          <a:prstGeom prst="rect">
            <a:avLst/>
          </a:prstGeom>
          <a:noFill/>
          <a:ln/>
        </p:spPr>
        <p:txBody>
          <a:bodyPr wrap="square" lIns="0" tIns="0" rIns="0" bIns="0" rtlCol="0" anchor="ctr"/>
          <a:lstStyle/>
          <a:p>
            <a:pPr algn="l" indent="0" marL="0">
              <a:buNone/>
            </a:pPr>
            <a:endParaRPr lang="en-US" sz="1000" dirty="0"/>
          </a:p>
        </p:txBody>
      </p:sp>
      <p:sp>
        <p:nvSpPr>
          <p:cNvPr id="5" name="Text 3"/>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Scrum en Jira · Roles, Artefactos, Eventos y su Mapeo</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lIns="0" tIns="0" rIns="0" bIns="0" rtlCol="0" anchor="t"/>
          <a:lstStyle/>
          <a:p>
            <a:pPr algn="l" indent="0" marL="0">
              <a:buNone/>
            </a:pPr>
            <a:r>
              <a:rPr lang="en-US" sz="2800" b="1" dirty="0">
                <a:solidFill>
                  <a:srgbClr val="1E2761"/>
                </a:solidFill>
                <a:latin typeface="Cambria" pitchFamily="34" charset="0"/>
                <a:ea typeface="Cambria" pitchFamily="34" charset="-122"/>
                <a:cs typeface="Cambria" pitchFamily="34" charset="-120"/>
              </a:rPr>
              <a:t>Resumen — Los Tres Roles</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3291840"/>
        </p:xfrm>
        <a:graphic>
          <a:graphicData uri="http://schemas.openxmlformats.org/drawingml/2006/table">
            <a:tbl>
              <a:tblPr/>
              <a:tblGrid>
                <a:gridCol w="3697224"/>
                <a:gridCol w="3697224"/>
                <a:gridCol w="3697224"/>
              </a:tblGrid>
              <a:tr h="82296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Rol</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Responsabilidad principal</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Pregunta que responde</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E2761"/>
                    </a:solidFill>
                  </a:tcPr>
                </a:tc>
              </a:tr>
              <a:tr h="82296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Product Owner</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Decide qué se construye y en qué orden</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¿Qué es lo más valioso ahora?</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r>
              <a:tr h="82296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Scrum Master</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4F6F9"/>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Facilita el proceso y remueve obstáculos</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4F6F9"/>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¿Qué está bloqueando al equipo?</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4F6F9"/>
                    </a:solidFill>
                  </a:tcPr>
                </a:tc>
              </a:tr>
              <a:tr h="82296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Equipo de Desarrollo</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Construye el incremento</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¿Cómo lo construimos?</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r>
            </a:tbl>
          </a:graphicData>
        </a:graphic>
      </p:graphicFrame>
      <p:sp>
        <p:nvSpPr>
          <p:cNvPr id="4" name="Text 1"/>
          <p:cNvSpPr/>
          <p:nvPr/>
        </p:nvSpPr>
        <p:spPr>
          <a:xfrm>
            <a:off x="548640" y="6446520"/>
            <a:ext cx="11091672" cy="274320"/>
          </a:xfrm>
          <a:prstGeom prst="rect">
            <a:avLst/>
          </a:prstGeom>
          <a:noFill/>
          <a:ln/>
        </p:spPr>
        <p:txBody>
          <a:bodyPr wrap="square" lIns="0" tIns="0" rIns="0" bIns="0" rtlCol="0" anchor="ctr"/>
          <a:lstStyle/>
          <a:p>
            <a:pPr algn="l" indent="0" marL="0">
              <a:buNone/>
            </a:pPr>
            <a:endParaRPr lang="en-US" sz="1000" dirty="0"/>
          </a:p>
        </p:txBody>
      </p:sp>
      <p:sp>
        <p:nvSpPr>
          <p:cNvPr id="5" name="Text 2"/>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Scrum en Jira · Roles, Artefactos, Eventos y su Mapeo</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2468880"/>
            <a:ext cx="11091672" cy="548640"/>
          </a:xfrm>
          <a:prstGeom prst="rect">
            <a:avLst/>
          </a:prstGeom>
          <a:noFill/>
          <a:ln/>
        </p:spPr>
        <p:txBody>
          <a:bodyPr wrap="square" lIns="0" tIns="0" rIns="0" bIns="0" rtlCol="0" anchor="ctr"/>
          <a:lstStyle/>
          <a:p>
            <a:pPr algn="ctr" indent="0" marL="0">
              <a:buNone/>
            </a:pPr>
            <a:r>
              <a:rPr lang="en-US" sz="1600" spc="300" kern="0" dirty="0">
                <a:solidFill>
                  <a:srgbClr val="CADCFC"/>
                </a:solidFill>
                <a:latin typeface="Calibri" pitchFamily="34" charset="0"/>
                <a:ea typeface="Calibri" pitchFamily="34" charset="-122"/>
                <a:cs typeface="Calibri" pitchFamily="34" charset="-120"/>
              </a:rPr>
              <a:t>PARTE 2</a:t>
            </a:r>
            <a:endParaRPr lang="en-US" sz="1600" dirty="0"/>
          </a:p>
        </p:txBody>
      </p:sp>
      <p:sp>
        <p:nvSpPr>
          <p:cNvPr id="3" name="Text 1"/>
          <p:cNvSpPr/>
          <p:nvPr/>
        </p:nvSpPr>
        <p:spPr>
          <a:xfrm>
            <a:off x="914400" y="3017520"/>
            <a:ext cx="10360152" cy="1463040"/>
          </a:xfrm>
          <a:prstGeom prst="rect">
            <a:avLst/>
          </a:prstGeom>
          <a:noFill/>
          <a:ln/>
        </p:spPr>
        <p:txBody>
          <a:bodyPr wrap="square" lIns="0" tIns="0" rIns="0" bIns="0" rtlCol="0" anchor="t"/>
          <a:lstStyle/>
          <a:p>
            <a:pPr algn="ctr" indent="0" marL="0">
              <a:buNone/>
            </a:pPr>
            <a:r>
              <a:rPr lang="en-US" sz="3200" b="1" dirty="0">
                <a:solidFill>
                  <a:srgbClr val="FFFFFF"/>
                </a:solidFill>
                <a:latin typeface="Cambria" pitchFamily="34" charset="0"/>
                <a:ea typeface="Cambria" pitchFamily="34" charset="-122"/>
                <a:cs typeface="Cambria" pitchFamily="34" charset="-120"/>
              </a:rPr>
              <a:t>Los Artefactos de Scrum</a:t>
            </a:r>
            <a:endParaRPr lang="en-US"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lIns="0" tIns="0" rIns="0" bIns="0" rtlCol="0" anchor="t"/>
          <a:lstStyle/>
          <a:p>
            <a:pPr algn="l" indent="0" marL="0">
              <a:buNone/>
            </a:pPr>
            <a:r>
              <a:rPr lang="en-US" sz="2800" b="1" dirty="0">
                <a:solidFill>
                  <a:srgbClr val="1E2761"/>
                </a:solidFill>
                <a:latin typeface="Cambria" pitchFamily="34" charset="0"/>
                <a:ea typeface="Cambria" pitchFamily="34" charset="-122"/>
                <a:cs typeface="Cambria" pitchFamily="34" charset="-120"/>
              </a:rPr>
              <a:t>Product Backlog</a:t>
            </a:r>
            <a:endParaRPr lang="en-US" sz="2800" dirty="0"/>
          </a:p>
        </p:txBody>
      </p:sp>
      <p:sp>
        <p:nvSpPr>
          <p:cNvPr id="3" name="Text 1"/>
          <p:cNvSpPr/>
          <p:nvPr/>
        </p:nvSpPr>
        <p:spPr>
          <a:xfrm>
            <a:off x="548640" y="1554480"/>
            <a:ext cx="11091672" cy="448056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Lista única, viva y priorizada de todo lo que el producto podría necesitar</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Nunca está "terminada" — se reordena y crece constantemente</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La mantiene el Product Owner, con aportes de todo el equipo</a:t>
            </a:r>
            <a:endParaRPr lang="en-US" sz="1700" dirty="0"/>
          </a:p>
        </p:txBody>
      </p:sp>
      <p:sp>
        <p:nvSpPr>
          <p:cNvPr id="4" name="Text 2"/>
          <p:cNvSpPr/>
          <p:nvPr/>
        </p:nvSpPr>
        <p:spPr>
          <a:xfrm>
            <a:off x="548640" y="6446520"/>
            <a:ext cx="11091672" cy="274320"/>
          </a:xfrm>
          <a:prstGeom prst="rect">
            <a:avLst/>
          </a:prstGeom>
          <a:noFill/>
          <a:ln/>
        </p:spPr>
        <p:txBody>
          <a:bodyPr wrap="square" lIns="0" tIns="0" rIns="0" bIns="0" rtlCol="0" anchor="ctr"/>
          <a:lstStyle/>
          <a:p>
            <a:pPr algn="l" indent="0" marL="0">
              <a:buNone/>
            </a:pPr>
            <a:endParaRPr lang="en-US" sz="1000" dirty="0"/>
          </a:p>
        </p:txBody>
      </p:sp>
      <p:sp>
        <p:nvSpPr>
          <p:cNvPr id="5" name="Text 3"/>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Scrum en Jira · Roles, Artefactos, Eventos y su Mapeo</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lIns="0" tIns="0" rIns="0" bIns="0" rtlCol="0" anchor="t"/>
          <a:lstStyle/>
          <a:p>
            <a:pPr algn="l" indent="0" marL="0">
              <a:buNone/>
            </a:pPr>
            <a:r>
              <a:rPr lang="en-US" sz="2800" b="1" dirty="0">
                <a:solidFill>
                  <a:srgbClr val="1E2761"/>
                </a:solidFill>
                <a:latin typeface="Cambria" pitchFamily="34" charset="0"/>
                <a:ea typeface="Cambria" pitchFamily="34" charset="-122"/>
                <a:cs typeface="Cambria" pitchFamily="34" charset="-120"/>
              </a:rPr>
              <a:t>La Historia de Usuario — el contenido del Backlog</a:t>
            </a:r>
            <a:endParaRPr lang="en-US" sz="2800" dirty="0"/>
          </a:p>
        </p:txBody>
      </p:sp>
      <p:sp>
        <p:nvSpPr>
          <p:cNvPr id="3" name="Text 1"/>
          <p:cNvSpPr/>
          <p:nvPr/>
        </p:nvSpPr>
        <p:spPr>
          <a:xfrm>
            <a:off x="548640" y="1554480"/>
            <a:ext cx="11091672" cy="448056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No es un artefacto aparte de Scrum — es la unidad de trabajo que vive dentro del Product Backlog</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Mismo criterio INVEST que ya conocen de Ingeniería de Requerimientos</a:t>
            </a:r>
            <a:endParaRPr lang="en-US" sz="1700" dirty="0"/>
          </a:p>
          <a:p>
            <a:pPr marL="228600" indent="-228600">
              <a:lnSpc>
                <a:spcPct val="115000"/>
              </a:lnSpc>
              <a:spcAft>
                <a:spcPts val="1400"/>
              </a:spcAft>
              <a:buSzPct val="100000"/>
              <a:buChar char="•"/>
            </a:pPr>
            <a:r>
              <a:rPr lang="en-US" sz="1700" b="1" i="1" dirty="0">
                <a:solidFill>
                  <a:srgbClr val="222222"/>
                </a:solidFill>
                <a:latin typeface="Calibri" pitchFamily="34" charset="0"/>
                <a:ea typeface="Calibri" pitchFamily="34" charset="-122"/>
                <a:cs typeface="Calibri" pitchFamily="34" charset="-120"/>
              </a:rPr>
              <a:t>Ejemplo (nuestro hilo conductor): "Como alumno, quiero inscribirme a mis materias del semestre, para asegurar mi lugar en clase."</a:t>
            </a:r>
            <a:endParaRPr lang="en-US" sz="1700" dirty="0"/>
          </a:p>
        </p:txBody>
      </p:sp>
      <p:sp>
        <p:nvSpPr>
          <p:cNvPr id="4" name="Text 2"/>
          <p:cNvSpPr/>
          <p:nvPr/>
        </p:nvSpPr>
        <p:spPr>
          <a:xfrm>
            <a:off x="548640" y="6446520"/>
            <a:ext cx="11091672" cy="274320"/>
          </a:xfrm>
          <a:prstGeom prst="rect">
            <a:avLst/>
          </a:prstGeom>
          <a:noFill/>
          <a:ln/>
        </p:spPr>
        <p:txBody>
          <a:bodyPr wrap="square" lIns="0" tIns="0" rIns="0" bIns="0" rtlCol="0" anchor="ctr"/>
          <a:lstStyle/>
          <a:p>
            <a:pPr algn="l" indent="0" marL="0">
              <a:buNone/>
            </a:pPr>
            <a:endParaRPr lang="en-US" sz="1000" dirty="0"/>
          </a:p>
        </p:txBody>
      </p:sp>
      <p:sp>
        <p:nvSpPr>
          <p:cNvPr id="5" name="Text 3"/>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Scrum en Jira · Roles, Artefactos, Eventos y su Mapeo</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lIns="0" tIns="0" rIns="0" bIns="0" rtlCol="0" anchor="t"/>
          <a:lstStyle/>
          <a:p>
            <a:pPr algn="l" indent="0" marL="0">
              <a:buNone/>
            </a:pPr>
            <a:r>
              <a:rPr lang="en-US" sz="2800" b="1" dirty="0">
                <a:solidFill>
                  <a:srgbClr val="1E2761"/>
                </a:solidFill>
                <a:latin typeface="Cambria" pitchFamily="34" charset="0"/>
                <a:ea typeface="Cambria" pitchFamily="34" charset="-122"/>
                <a:cs typeface="Cambria" pitchFamily="34" charset="-120"/>
              </a:rPr>
              <a:t>Historias de Usuario — Formato y Buenas Prácticas</a:t>
            </a:r>
            <a:endParaRPr lang="en-US" sz="2800" dirty="0"/>
          </a:p>
        </p:txBody>
      </p:sp>
      <p:sp>
        <p:nvSpPr>
          <p:cNvPr id="3" name="Text 1"/>
          <p:cNvSpPr/>
          <p:nvPr/>
        </p:nvSpPr>
        <p:spPr>
          <a:xfrm>
            <a:off x="548640" y="1554480"/>
            <a:ext cx="11091672" cy="448056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700" b="1" dirty="0">
                <a:solidFill>
                  <a:srgbClr val="222222"/>
                </a:solidFill>
                <a:latin typeface="Calibri" pitchFamily="34" charset="0"/>
                <a:ea typeface="Calibri" pitchFamily="34" charset="-122"/>
                <a:cs typeface="Calibri" pitchFamily="34" charset="-120"/>
              </a:rPr>
              <a:t>Formato estándar (Connextra): "Como &lt;rol&gt;, quiero &lt;acción&gt;, para &lt;beneficio&gt;"</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El "para..." (el beneficio) es la parte que más se omite — y la más importante: sin ella se pierde el propósito de por qué vale la pena construirla</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Debe caber cómodamente en un sprint — el criterio "Small" de INVEST, que ya conocen de Ingeniería de Requerimientos</a:t>
            </a:r>
            <a:endParaRPr lang="en-US" sz="1700" dirty="0"/>
          </a:p>
          <a:p>
            <a:pPr marL="228600" indent="-228600">
              <a:lnSpc>
                <a:spcPct val="115000"/>
              </a:lnSpc>
              <a:spcAft>
                <a:spcPts val="1400"/>
              </a:spcAft>
              <a:buSzPct val="100000"/>
              <a:buChar char="•"/>
            </a:pPr>
            <a:r>
              <a:rPr lang="en-US" sz="1700" i="1" dirty="0">
                <a:solidFill>
                  <a:srgbClr val="222222"/>
                </a:solidFill>
                <a:latin typeface="Calibri" pitchFamily="34" charset="0"/>
                <a:ea typeface="Calibri" pitchFamily="34" charset="-122"/>
                <a:cs typeface="Calibri" pitchFamily="34" charset="-120"/>
              </a:rPr>
              <a:t>Modelo de las 3 C's (Ron Jeffries): Card → Conversation → Confirmation — la tarjeta es solo el recordatorio de una conversación pendiente, no la especificación completa</a:t>
            </a:r>
            <a:endParaRPr lang="en-US" sz="1700" dirty="0"/>
          </a:p>
        </p:txBody>
      </p:sp>
      <p:sp>
        <p:nvSpPr>
          <p:cNvPr id="4" name="Text 2"/>
          <p:cNvSpPr/>
          <p:nvPr/>
        </p:nvSpPr>
        <p:spPr>
          <a:xfrm>
            <a:off x="548640" y="6446520"/>
            <a:ext cx="11091672" cy="274320"/>
          </a:xfrm>
          <a:prstGeom prst="rect">
            <a:avLst/>
          </a:prstGeom>
          <a:noFill/>
          <a:ln/>
        </p:spPr>
        <p:txBody>
          <a:bodyPr wrap="square" lIns="0" tIns="0" rIns="0" bIns="0" rtlCol="0" anchor="ctr"/>
          <a:lstStyle/>
          <a:p>
            <a:pPr algn="l" indent="0" marL="0">
              <a:buNone/>
            </a:pPr>
            <a:endParaRPr lang="en-US" sz="1000" dirty="0"/>
          </a:p>
        </p:txBody>
      </p:sp>
      <p:sp>
        <p:nvSpPr>
          <p:cNvPr id="5" name="Text 3"/>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Scrum en Jira · Roles, Artefactos, Eventos y su Mapeo</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lIns="0" tIns="0" rIns="0" bIns="0" rtlCol="0" anchor="t"/>
          <a:lstStyle/>
          <a:p>
            <a:pPr algn="l" indent="0" marL="0">
              <a:buNone/>
            </a:pPr>
            <a:r>
              <a:rPr lang="en-US" sz="2800" b="1" dirty="0">
                <a:solidFill>
                  <a:srgbClr val="1E2761"/>
                </a:solidFill>
                <a:latin typeface="Cambria" pitchFamily="34" charset="0"/>
                <a:ea typeface="Cambria" pitchFamily="34" charset="-122"/>
                <a:cs typeface="Cambria" pitchFamily="34" charset="-120"/>
              </a:rPr>
              <a:t>Qué Es y Qué No Es una Historia de Usuario</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2743200"/>
        </p:xfrm>
        <a:graphic>
          <a:graphicData uri="http://schemas.openxmlformats.org/drawingml/2006/table">
            <a:tbl>
              <a:tblPr/>
              <a:tblGrid>
                <a:gridCol w="5545836"/>
                <a:gridCol w="5545836"/>
              </a:tblGrid>
              <a:tr h="5486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Historia de Usuario</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Especificación Clásica (SRS)</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E2761"/>
                    </a:solidFill>
                  </a:tcPr>
                </a:tc>
              </a:tr>
              <a:tr h="54864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Punto de partida para una conversación</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Documento exhaustivo y firmado</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Deliberadamente incompleta hasta trabajarla</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4F6F9"/>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Completa desde el inicio</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4F6F9"/>
                    </a:solidFill>
                  </a:tcPr>
                </a:tc>
              </a:tr>
              <a:tr h="54864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Vive y cambia dentro del Backlog</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Se congela tras su aprobación</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Enfocada en el valor para el usuario</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4F6F9"/>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Enfocada en especificar el comportamiento del sistema</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4F6F9"/>
                    </a:solidFill>
                  </a:tcPr>
                </a:tc>
              </a:tr>
            </a:tbl>
          </a:graphicData>
        </a:graphic>
      </p:graphicFrame>
      <p:sp>
        <p:nvSpPr>
          <p:cNvPr id="4" name="Text 1"/>
          <p:cNvSpPr/>
          <p:nvPr/>
        </p:nvSpPr>
        <p:spPr>
          <a:xfrm>
            <a:off x="548640" y="6446520"/>
            <a:ext cx="11091672" cy="274320"/>
          </a:xfrm>
          <a:prstGeom prst="rect">
            <a:avLst/>
          </a:prstGeom>
          <a:noFill/>
          <a:ln/>
        </p:spPr>
        <p:txBody>
          <a:bodyPr wrap="square" lIns="0" tIns="0" rIns="0" bIns="0" rtlCol="0" anchor="ctr"/>
          <a:lstStyle/>
          <a:p>
            <a:pPr algn="l" indent="0" marL="0">
              <a:buNone/>
            </a:pPr>
            <a:endParaRPr lang="en-US" sz="1000" dirty="0"/>
          </a:p>
        </p:txBody>
      </p:sp>
      <p:sp>
        <p:nvSpPr>
          <p:cNvPr id="5" name="Text 2"/>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Scrum en Jira · Roles, Artefactos, Eventos y su Mapeo</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lIns="0" tIns="0" rIns="0" bIns="0" rtlCol="0" anchor="t"/>
          <a:lstStyle/>
          <a:p>
            <a:pPr algn="l" indent="0" marL="0">
              <a:buNone/>
            </a:pPr>
            <a:r>
              <a:rPr lang="en-US" sz="2800" b="1" dirty="0">
                <a:solidFill>
                  <a:srgbClr val="1E2761"/>
                </a:solidFill>
                <a:latin typeface="Cambria" pitchFamily="34" charset="0"/>
                <a:ea typeface="Cambria" pitchFamily="34" charset="-122"/>
                <a:cs typeface="Cambria" pitchFamily="34" charset="-120"/>
              </a:rPr>
              <a:t>Sprint Backlog</a:t>
            </a:r>
            <a:endParaRPr lang="en-US" sz="2800" dirty="0"/>
          </a:p>
        </p:txBody>
      </p:sp>
      <p:sp>
        <p:nvSpPr>
          <p:cNvPr id="3" name="Text 1"/>
          <p:cNvSpPr/>
          <p:nvPr/>
        </p:nvSpPr>
        <p:spPr>
          <a:xfrm>
            <a:off x="548640" y="1554480"/>
            <a:ext cx="11091672" cy="448056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Subconjunto del Product Backlog, seleccionado para el sprint actual</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Incluye también el plan del equipo para lograrlo</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Es propiedad del Equipo de Desarrollo — solo ellos lo modifican durante el sprint</a:t>
            </a:r>
            <a:endParaRPr lang="en-US" sz="1700" dirty="0"/>
          </a:p>
        </p:txBody>
      </p:sp>
      <p:sp>
        <p:nvSpPr>
          <p:cNvPr id="4" name="Text 2"/>
          <p:cNvSpPr/>
          <p:nvPr/>
        </p:nvSpPr>
        <p:spPr>
          <a:xfrm>
            <a:off x="548640" y="6446520"/>
            <a:ext cx="11091672" cy="274320"/>
          </a:xfrm>
          <a:prstGeom prst="rect">
            <a:avLst/>
          </a:prstGeom>
          <a:noFill/>
          <a:ln/>
        </p:spPr>
        <p:txBody>
          <a:bodyPr wrap="square" lIns="0" tIns="0" rIns="0" bIns="0" rtlCol="0" anchor="ctr"/>
          <a:lstStyle/>
          <a:p>
            <a:pPr algn="l" indent="0" marL="0">
              <a:buNone/>
            </a:pPr>
            <a:endParaRPr lang="en-US" sz="1000" dirty="0"/>
          </a:p>
        </p:txBody>
      </p:sp>
      <p:sp>
        <p:nvSpPr>
          <p:cNvPr id="5" name="Text 3"/>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Scrum en Jira · Roles, Artefactos, Eventos y su Mapeo</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lIns="0" tIns="0" rIns="0" bIns="0" rtlCol="0" anchor="t"/>
          <a:lstStyle/>
          <a:p>
            <a:pPr algn="l" indent="0" marL="0">
              <a:buNone/>
            </a:pPr>
            <a:r>
              <a:rPr lang="en-US" sz="2800" b="1" dirty="0">
                <a:solidFill>
                  <a:srgbClr val="1E2761"/>
                </a:solidFill>
                <a:latin typeface="Cambria" pitchFamily="34" charset="0"/>
                <a:ea typeface="Cambria" pitchFamily="34" charset="-122"/>
                <a:cs typeface="Cambria" pitchFamily="34" charset="-120"/>
              </a:rPr>
              <a:t>Incremento y Definition of Done</a:t>
            </a:r>
            <a:endParaRPr lang="en-US" sz="2800" dirty="0"/>
          </a:p>
        </p:txBody>
      </p:sp>
      <p:sp>
        <p:nvSpPr>
          <p:cNvPr id="3" name="Text 1"/>
          <p:cNvSpPr/>
          <p:nvPr/>
        </p:nvSpPr>
        <p:spPr>
          <a:xfrm>
            <a:off x="548640" y="1554480"/>
            <a:ext cx="11091672" cy="448056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Incremento: la suma de todo lo terminado, de todos los sprints, en un estado usable</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Definition of Done (DoD): el acuerdo explícito de qué significa "terminado"</a:t>
            </a:r>
            <a:endParaRPr lang="en-US" sz="1700" dirty="0"/>
          </a:p>
          <a:p>
            <a:pPr marL="228600" indent="-228600">
              <a:lnSpc>
                <a:spcPct val="115000"/>
              </a:lnSpc>
              <a:spcAft>
                <a:spcPts val="1400"/>
              </a:spcAft>
              <a:buSzPct val="100000"/>
              <a:buChar char="•"/>
            </a:pPr>
            <a:r>
              <a:rPr lang="en-US" sz="1700" b="1" dirty="0">
                <a:solidFill>
                  <a:srgbClr val="222222"/>
                </a:solidFill>
                <a:latin typeface="Calibri" pitchFamily="34" charset="0"/>
                <a:ea typeface="Calibri" pitchFamily="34" charset="-122"/>
                <a:cs typeface="Calibri" pitchFamily="34" charset="-120"/>
              </a:rPr>
              <a:t>Sin DoD clara, "terminado" significa algo distinto para cada integrante del equipo</a:t>
            </a:r>
            <a:endParaRPr lang="en-US" sz="1700" dirty="0"/>
          </a:p>
        </p:txBody>
      </p:sp>
      <p:sp>
        <p:nvSpPr>
          <p:cNvPr id="4" name="Text 2"/>
          <p:cNvSpPr/>
          <p:nvPr/>
        </p:nvSpPr>
        <p:spPr>
          <a:xfrm>
            <a:off x="548640" y="6446520"/>
            <a:ext cx="11091672" cy="274320"/>
          </a:xfrm>
          <a:prstGeom prst="rect">
            <a:avLst/>
          </a:prstGeom>
          <a:noFill/>
          <a:ln/>
        </p:spPr>
        <p:txBody>
          <a:bodyPr wrap="square" lIns="0" tIns="0" rIns="0" bIns="0" rtlCol="0" anchor="ctr"/>
          <a:lstStyle/>
          <a:p>
            <a:pPr algn="l" indent="0" marL="0">
              <a:buNone/>
            </a:pPr>
            <a:endParaRPr lang="en-US" sz="1000" dirty="0"/>
          </a:p>
        </p:txBody>
      </p:sp>
      <p:sp>
        <p:nvSpPr>
          <p:cNvPr id="5" name="Text 3"/>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Scrum en Jira · Roles, Artefactos, Eventos y su Mapeo</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lIns="0" tIns="0" rIns="0" bIns="0" rtlCol="0" anchor="t"/>
          <a:lstStyle/>
          <a:p>
            <a:pPr algn="l" indent="0" marL="0">
              <a:buNone/>
            </a:pPr>
            <a:r>
              <a:rPr lang="en-US" sz="2800" b="1" dirty="0">
                <a:solidFill>
                  <a:srgbClr val="1E2761"/>
                </a:solidFill>
                <a:latin typeface="Cambria" pitchFamily="34" charset="0"/>
                <a:ea typeface="Cambria" pitchFamily="34" charset="-122"/>
                <a:cs typeface="Cambria" pitchFamily="34" charset="-120"/>
              </a:rPr>
              <a:t>Resumen — Los Tres Artefactos</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3291840"/>
        </p:xfrm>
        <a:graphic>
          <a:graphicData uri="http://schemas.openxmlformats.org/drawingml/2006/table">
            <a:tbl>
              <a:tblPr/>
              <a:tblGrid>
                <a:gridCol w="3697224"/>
                <a:gridCol w="3697224"/>
                <a:gridCol w="3697224"/>
              </a:tblGrid>
              <a:tr h="82296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Artefacto</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Qué contiene</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Cuándo cambia</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E2761"/>
                    </a:solidFill>
                  </a:tcPr>
                </a:tc>
              </a:tr>
              <a:tr h="82296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Product Backlog</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Todas las historias, priorizadas</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Constantemente</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r>
              <a:tr h="82296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Sprint Backlog</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4F6F9"/>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Historias comprometidas + plan del equipo</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4F6F9"/>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Fijo durante el sprint</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4F6F9"/>
                    </a:solidFill>
                  </a:tcPr>
                </a:tc>
              </a:tr>
              <a:tr h="82296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Incremento</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Trabajo terminado y funcional (con DoD cumplida)</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Al cierre de cada sprint</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r>
            </a:tbl>
          </a:graphicData>
        </a:graphic>
      </p:graphicFrame>
      <p:sp>
        <p:nvSpPr>
          <p:cNvPr id="4" name="Text 1"/>
          <p:cNvSpPr/>
          <p:nvPr/>
        </p:nvSpPr>
        <p:spPr>
          <a:xfrm>
            <a:off x="548640" y="6446520"/>
            <a:ext cx="11091672" cy="274320"/>
          </a:xfrm>
          <a:prstGeom prst="rect">
            <a:avLst/>
          </a:prstGeom>
          <a:noFill/>
          <a:ln/>
        </p:spPr>
        <p:txBody>
          <a:bodyPr wrap="square" lIns="0" tIns="0" rIns="0" bIns="0" rtlCol="0" anchor="ctr"/>
          <a:lstStyle/>
          <a:p>
            <a:pPr algn="l" indent="0" marL="0">
              <a:buNone/>
            </a:pPr>
            <a:endParaRPr lang="en-US" sz="1000" dirty="0"/>
          </a:p>
        </p:txBody>
      </p:sp>
      <p:sp>
        <p:nvSpPr>
          <p:cNvPr id="5" name="Text 2"/>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Scrum en Jira · Roles, Artefactos, Eventos y su Mapeo</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2468880"/>
            <a:ext cx="11091672" cy="548640"/>
          </a:xfrm>
          <a:prstGeom prst="rect">
            <a:avLst/>
          </a:prstGeom>
          <a:noFill/>
          <a:ln/>
        </p:spPr>
        <p:txBody>
          <a:bodyPr wrap="square" lIns="0" tIns="0" rIns="0" bIns="0" rtlCol="0" anchor="ctr"/>
          <a:lstStyle/>
          <a:p>
            <a:pPr algn="ctr" indent="0" marL="0">
              <a:buNone/>
            </a:pPr>
            <a:r>
              <a:rPr lang="en-US" sz="1600" spc="300" kern="0" dirty="0">
                <a:solidFill>
                  <a:srgbClr val="CADCFC"/>
                </a:solidFill>
                <a:latin typeface="Calibri" pitchFamily="34" charset="0"/>
                <a:ea typeface="Calibri" pitchFamily="34" charset="-122"/>
                <a:cs typeface="Calibri" pitchFamily="34" charset="-120"/>
              </a:rPr>
              <a:t>PARTE 3</a:t>
            </a:r>
            <a:endParaRPr lang="en-US" sz="1600" dirty="0"/>
          </a:p>
        </p:txBody>
      </p:sp>
      <p:sp>
        <p:nvSpPr>
          <p:cNvPr id="3" name="Text 1"/>
          <p:cNvSpPr/>
          <p:nvPr/>
        </p:nvSpPr>
        <p:spPr>
          <a:xfrm>
            <a:off x="914400" y="3017520"/>
            <a:ext cx="10360152" cy="1463040"/>
          </a:xfrm>
          <a:prstGeom prst="rect">
            <a:avLst/>
          </a:prstGeom>
          <a:noFill/>
          <a:ln/>
        </p:spPr>
        <p:txBody>
          <a:bodyPr wrap="square" lIns="0" tIns="0" rIns="0" bIns="0" rtlCol="0" anchor="t"/>
          <a:lstStyle/>
          <a:p>
            <a:pPr algn="ctr" indent="0" marL="0">
              <a:buNone/>
            </a:pPr>
            <a:r>
              <a:rPr lang="en-US" sz="3200" b="1" dirty="0">
                <a:solidFill>
                  <a:srgbClr val="FFFFFF"/>
                </a:solidFill>
                <a:latin typeface="Cambria" pitchFamily="34" charset="0"/>
                <a:ea typeface="Cambria" pitchFamily="34" charset="-122"/>
                <a:cs typeface="Cambria" pitchFamily="34" charset="-120"/>
              </a:rPr>
              <a:t>Los Eventos de Scrum</a:t>
            </a:r>
            <a:endParaRPr lang="en-US" sz="3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lIns="0" tIns="0" rIns="0" bIns="0" rtlCol="0" anchor="t"/>
          <a:lstStyle/>
          <a:p>
            <a:pPr algn="l" indent="0" marL="0">
              <a:buNone/>
            </a:pPr>
            <a:r>
              <a:rPr lang="en-US" sz="2800" b="1" dirty="0">
                <a:solidFill>
                  <a:srgbClr val="1E2761"/>
                </a:solidFill>
                <a:latin typeface="Cambria" pitchFamily="34" charset="0"/>
                <a:ea typeface="Cambria" pitchFamily="34" charset="-122"/>
                <a:cs typeface="Cambria" pitchFamily="34" charset="-120"/>
              </a:rPr>
              <a:t>El Sprint</a:t>
            </a:r>
            <a:endParaRPr lang="en-US" sz="2800" dirty="0"/>
          </a:p>
        </p:txBody>
      </p:sp>
      <p:sp>
        <p:nvSpPr>
          <p:cNvPr id="3" name="Text 1"/>
          <p:cNvSpPr/>
          <p:nvPr/>
        </p:nvSpPr>
        <p:spPr>
          <a:xfrm>
            <a:off x="548640" y="1554480"/>
            <a:ext cx="11091672" cy="448056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Marco temporal que contiene a todos los demás eventos</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Duración fija, típicamente de 1 a 4 semanas — no se alarga a medio camino</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Al terminar un sprint, empieza el siguiente de inmediato — sin espacios muertos</a:t>
            </a:r>
            <a:endParaRPr lang="en-US" sz="1700" dirty="0"/>
          </a:p>
        </p:txBody>
      </p:sp>
      <p:sp>
        <p:nvSpPr>
          <p:cNvPr id="4" name="Text 2"/>
          <p:cNvSpPr/>
          <p:nvPr/>
        </p:nvSpPr>
        <p:spPr>
          <a:xfrm>
            <a:off x="548640" y="6446520"/>
            <a:ext cx="11091672" cy="274320"/>
          </a:xfrm>
          <a:prstGeom prst="rect">
            <a:avLst/>
          </a:prstGeom>
          <a:noFill/>
          <a:ln/>
        </p:spPr>
        <p:txBody>
          <a:bodyPr wrap="square" lIns="0" tIns="0" rIns="0" bIns="0" rtlCol="0" anchor="ctr"/>
          <a:lstStyle/>
          <a:p>
            <a:pPr algn="l" indent="0" marL="0">
              <a:buNone/>
            </a:pPr>
            <a:endParaRPr lang="en-US" sz="1000" dirty="0"/>
          </a:p>
        </p:txBody>
      </p:sp>
      <p:sp>
        <p:nvSpPr>
          <p:cNvPr id="5" name="Text 3"/>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Scrum en Jira · Roles, Artefactos, Eventos y su Mapeo</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lIns="0" tIns="0" rIns="0" bIns="0" rtlCol="0" anchor="t"/>
          <a:lstStyle/>
          <a:p>
            <a:pPr algn="l" indent="0" marL="0">
              <a:buNone/>
            </a:pPr>
            <a:r>
              <a:rPr lang="en-US" sz="2800" b="1" dirty="0">
                <a:solidFill>
                  <a:srgbClr val="1E2761"/>
                </a:solidFill>
                <a:latin typeface="Cambria" pitchFamily="34" charset="0"/>
                <a:ea typeface="Cambria" pitchFamily="34" charset="-122"/>
                <a:cs typeface="Cambria" pitchFamily="34" charset="-120"/>
              </a:rPr>
              <a:t>Sprint Planning</a:t>
            </a:r>
            <a:endParaRPr lang="en-US" sz="2800" dirty="0"/>
          </a:p>
        </p:txBody>
      </p:sp>
      <p:sp>
        <p:nvSpPr>
          <p:cNvPr id="3" name="Text 1"/>
          <p:cNvSpPr/>
          <p:nvPr/>
        </p:nvSpPr>
        <p:spPr>
          <a:xfrm>
            <a:off x="548640" y="1554480"/>
            <a:ext cx="11091672" cy="448056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El equipo completo decide qué historias entran al sprint</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Y cómo se van a lograr — no solo qué, también el plan de trabajo</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Termina con un Sprint Goal claro: una oración que resume el propósito del sprint</a:t>
            </a:r>
            <a:endParaRPr lang="en-US" sz="1700" dirty="0"/>
          </a:p>
        </p:txBody>
      </p:sp>
      <p:sp>
        <p:nvSpPr>
          <p:cNvPr id="4" name="Text 2"/>
          <p:cNvSpPr/>
          <p:nvPr/>
        </p:nvSpPr>
        <p:spPr>
          <a:xfrm>
            <a:off x="548640" y="6446520"/>
            <a:ext cx="11091672" cy="274320"/>
          </a:xfrm>
          <a:prstGeom prst="rect">
            <a:avLst/>
          </a:prstGeom>
          <a:noFill/>
          <a:ln/>
        </p:spPr>
        <p:txBody>
          <a:bodyPr wrap="square" lIns="0" tIns="0" rIns="0" bIns="0" rtlCol="0" anchor="ctr"/>
          <a:lstStyle/>
          <a:p>
            <a:pPr algn="l" indent="0" marL="0">
              <a:buNone/>
            </a:pPr>
            <a:endParaRPr lang="en-US" sz="1000" dirty="0"/>
          </a:p>
        </p:txBody>
      </p:sp>
      <p:sp>
        <p:nvSpPr>
          <p:cNvPr id="5" name="Text 3"/>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Scrum en Jira · Roles, Artefactos, Eventos y su Mapeo</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lIns="0" tIns="0" rIns="0" bIns="0" rtlCol="0" anchor="t"/>
          <a:lstStyle/>
          <a:p>
            <a:pPr algn="l" indent="0" marL="0">
              <a:buNone/>
            </a:pPr>
            <a:r>
              <a:rPr lang="en-US" sz="2800" b="1" dirty="0">
                <a:solidFill>
                  <a:srgbClr val="1E2761"/>
                </a:solidFill>
                <a:latin typeface="Cambria" pitchFamily="34" charset="0"/>
                <a:ea typeface="Cambria" pitchFamily="34" charset="-122"/>
                <a:cs typeface="Cambria" pitchFamily="34" charset="-120"/>
              </a:rPr>
              <a:t>Daily Scrum</a:t>
            </a:r>
            <a:endParaRPr lang="en-US" sz="2800" dirty="0"/>
          </a:p>
        </p:txBody>
      </p:sp>
      <p:sp>
        <p:nvSpPr>
          <p:cNvPr id="3" name="Text 1"/>
          <p:cNvSpPr/>
          <p:nvPr/>
        </p:nvSpPr>
        <p:spPr>
          <a:xfrm>
            <a:off x="548640" y="1554480"/>
            <a:ext cx="11091672" cy="448056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Sincronización diaria breve — 15 minutos, de pie</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No es un reporte de status al jefe — es el equipo coordinándose entre sí</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Tres preguntas guía: ¿qué hice? ¿qué haré? ¿qué me está bloqueando?</a:t>
            </a:r>
            <a:endParaRPr lang="en-US" sz="1700" dirty="0"/>
          </a:p>
        </p:txBody>
      </p:sp>
      <p:sp>
        <p:nvSpPr>
          <p:cNvPr id="4" name="Text 2"/>
          <p:cNvSpPr/>
          <p:nvPr/>
        </p:nvSpPr>
        <p:spPr>
          <a:xfrm>
            <a:off x="548640" y="6446520"/>
            <a:ext cx="11091672" cy="274320"/>
          </a:xfrm>
          <a:prstGeom prst="rect">
            <a:avLst/>
          </a:prstGeom>
          <a:noFill/>
          <a:ln/>
        </p:spPr>
        <p:txBody>
          <a:bodyPr wrap="square" lIns="0" tIns="0" rIns="0" bIns="0" rtlCol="0" anchor="ctr"/>
          <a:lstStyle/>
          <a:p>
            <a:pPr algn="l" indent="0" marL="0">
              <a:buNone/>
            </a:pPr>
            <a:endParaRPr lang="en-US" sz="1000" dirty="0"/>
          </a:p>
        </p:txBody>
      </p:sp>
      <p:sp>
        <p:nvSpPr>
          <p:cNvPr id="5" name="Text 3"/>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Scrum en Jira · Roles, Artefactos, Eventos y su Mapeo</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lIns="0" tIns="0" rIns="0" bIns="0" rtlCol="0" anchor="t"/>
          <a:lstStyle/>
          <a:p>
            <a:pPr algn="l" indent="0" marL="0">
              <a:buNone/>
            </a:pPr>
            <a:r>
              <a:rPr lang="en-US" sz="2800" b="1" dirty="0">
                <a:solidFill>
                  <a:srgbClr val="1E2761"/>
                </a:solidFill>
                <a:latin typeface="Cambria" pitchFamily="34" charset="0"/>
                <a:ea typeface="Cambria" pitchFamily="34" charset="-122"/>
                <a:cs typeface="Cambria" pitchFamily="34" charset="-120"/>
              </a:rPr>
              <a:t>Sprint Review</a:t>
            </a:r>
            <a:endParaRPr lang="en-US" sz="2800" dirty="0"/>
          </a:p>
        </p:txBody>
      </p:sp>
      <p:sp>
        <p:nvSpPr>
          <p:cNvPr id="3" name="Text 1"/>
          <p:cNvSpPr/>
          <p:nvPr/>
        </p:nvSpPr>
        <p:spPr>
          <a:xfrm>
            <a:off x="548640" y="1554480"/>
            <a:ext cx="11091672" cy="448056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Se inspecciona el Incremento — con el cliente/Product Owner presente</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Es una demostración de trabajo funcionando, no una presentación de diapositivas</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El feedback aquí puede reordenar el Product Backlog para el siguiente sprint</a:t>
            </a:r>
            <a:endParaRPr lang="en-US" sz="1700" dirty="0"/>
          </a:p>
        </p:txBody>
      </p:sp>
      <p:sp>
        <p:nvSpPr>
          <p:cNvPr id="4" name="Text 2"/>
          <p:cNvSpPr/>
          <p:nvPr/>
        </p:nvSpPr>
        <p:spPr>
          <a:xfrm>
            <a:off x="548640" y="6446520"/>
            <a:ext cx="11091672" cy="274320"/>
          </a:xfrm>
          <a:prstGeom prst="rect">
            <a:avLst/>
          </a:prstGeom>
          <a:noFill/>
          <a:ln/>
        </p:spPr>
        <p:txBody>
          <a:bodyPr wrap="square" lIns="0" tIns="0" rIns="0" bIns="0" rtlCol="0" anchor="ctr"/>
          <a:lstStyle/>
          <a:p>
            <a:pPr algn="l" indent="0" marL="0">
              <a:buNone/>
            </a:pPr>
            <a:endParaRPr lang="en-US" sz="1000" dirty="0"/>
          </a:p>
        </p:txBody>
      </p:sp>
      <p:sp>
        <p:nvSpPr>
          <p:cNvPr id="5" name="Text 3"/>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Scrum en Jira · Roles, Artefactos, Eventos y su Mapeo</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lIns="0" tIns="0" rIns="0" bIns="0" rtlCol="0" anchor="t"/>
          <a:lstStyle/>
          <a:p>
            <a:pPr algn="l" indent="0" marL="0">
              <a:buNone/>
            </a:pPr>
            <a:r>
              <a:rPr lang="en-US" sz="2800" b="1" dirty="0">
                <a:solidFill>
                  <a:srgbClr val="1E2761"/>
                </a:solidFill>
                <a:latin typeface="Cambria" pitchFamily="34" charset="0"/>
                <a:ea typeface="Cambria" pitchFamily="34" charset="-122"/>
                <a:cs typeface="Cambria" pitchFamily="34" charset="-120"/>
              </a:rPr>
              <a:t>Retrospectiva</a:t>
            </a:r>
            <a:endParaRPr lang="en-US" sz="2800" dirty="0"/>
          </a:p>
        </p:txBody>
      </p:sp>
      <p:sp>
        <p:nvSpPr>
          <p:cNvPr id="3" name="Text 1"/>
          <p:cNvSpPr/>
          <p:nvPr/>
        </p:nvSpPr>
        <p:spPr>
          <a:xfrm>
            <a:off x="548640" y="1554480"/>
            <a:ext cx="11091672" cy="448056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El equipo reflexiona sobre CÓMO trabajó — no sobre QUÉ construyó (eso fue la Review)</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Busca acciones concretas de mejora para el siguiente sprint</a:t>
            </a:r>
            <a:endParaRPr lang="en-US" sz="1700" dirty="0"/>
          </a:p>
          <a:p>
            <a:pPr marL="228600" indent="-228600">
              <a:lnSpc>
                <a:spcPct val="115000"/>
              </a:lnSpc>
              <a:spcAft>
                <a:spcPts val="1400"/>
              </a:spcAft>
              <a:buSzPct val="100000"/>
              <a:buChar char="•"/>
            </a:pPr>
            <a:r>
              <a:rPr lang="en-US" sz="1700" b="1" dirty="0">
                <a:solidFill>
                  <a:srgbClr val="222222"/>
                </a:solidFill>
                <a:latin typeface="Calibri" pitchFamily="34" charset="0"/>
                <a:ea typeface="Calibri" pitchFamily="34" charset="-122"/>
                <a:cs typeface="Calibri" pitchFamily="34" charset="-120"/>
              </a:rPr>
              <a:t>No vive dentro de ninguna herramienta — es una conversación humana</a:t>
            </a:r>
            <a:endParaRPr lang="en-US" sz="1700" dirty="0"/>
          </a:p>
        </p:txBody>
      </p:sp>
      <p:sp>
        <p:nvSpPr>
          <p:cNvPr id="4" name="Text 2"/>
          <p:cNvSpPr/>
          <p:nvPr/>
        </p:nvSpPr>
        <p:spPr>
          <a:xfrm>
            <a:off x="548640" y="6446520"/>
            <a:ext cx="11091672" cy="274320"/>
          </a:xfrm>
          <a:prstGeom prst="rect">
            <a:avLst/>
          </a:prstGeom>
          <a:noFill/>
          <a:ln/>
        </p:spPr>
        <p:txBody>
          <a:bodyPr wrap="square" lIns="0" tIns="0" rIns="0" bIns="0" rtlCol="0" anchor="ctr"/>
          <a:lstStyle/>
          <a:p>
            <a:pPr algn="l" indent="0" marL="0">
              <a:buNone/>
            </a:pPr>
            <a:endParaRPr lang="en-US" sz="1000" dirty="0"/>
          </a:p>
        </p:txBody>
      </p:sp>
      <p:sp>
        <p:nvSpPr>
          <p:cNvPr id="5" name="Text 3"/>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Scrum en Jira · Roles, Artefactos, Eventos y su Mapeo</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lIns="0" tIns="0" rIns="0" bIns="0" rtlCol="0" anchor="t"/>
          <a:lstStyle/>
          <a:p>
            <a:pPr algn="l" indent="0" marL="0">
              <a:buNone/>
            </a:pPr>
            <a:r>
              <a:rPr lang="en-US" sz="2800" b="1" dirty="0">
                <a:solidFill>
                  <a:srgbClr val="1E2761"/>
                </a:solidFill>
                <a:latin typeface="Cambria" pitchFamily="34" charset="0"/>
                <a:ea typeface="Cambria" pitchFamily="34" charset="-122"/>
                <a:cs typeface="Cambria" pitchFamily="34" charset="-120"/>
              </a:rPr>
              <a:t>El Ciclo Completo de un Sprint</a:t>
            </a:r>
            <a:endParaRPr lang="en-US" sz="2800" dirty="0"/>
          </a:p>
        </p:txBody>
      </p:sp>
      <p:sp>
        <p:nvSpPr>
          <p:cNvPr id="3" name="Shape 1"/>
          <p:cNvSpPr/>
          <p:nvPr/>
        </p:nvSpPr>
        <p:spPr>
          <a:xfrm>
            <a:off x="548640" y="2651760"/>
            <a:ext cx="2110003" cy="1005840"/>
          </a:xfrm>
          <a:prstGeom prst="roundRect">
            <a:avLst>
              <a:gd name="adj" fmla="val 5455"/>
            </a:avLst>
          </a:prstGeom>
          <a:solidFill>
            <a:srgbClr val="1E2761"/>
          </a:solidFill>
          <a:ln w="12700">
            <a:solidFill>
              <a:srgbClr val="D9DEE6"/>
            </a:solidFill>
            <a:prstDash val="solid"/>
          </a:ln>
        </p:spPr>
      </p:sp>
      <p:sp>
        <p:nvSpPr>
          <p:cNvPr id="4" name="Text 2"/>
          <p:cNvSpPr/>
          <p:nvPr/>
        </p:nvSpPr>
        <p:spPr>
          <a:xfrm>
            <a:off x="548640" y="2651760"/>
            <a:ext cx="2110003" cy="1005840"/>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 Sprint</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Planning</a:t>
            </a:r>
            <a:endParaRPr lang="en-US" sz="1250" dirty="0"/>
          </a:p>
        </p:txBody>
      </p:sp>
      <p:sp>
        <p:nvSpPr>
          <p:cNvPr id="5" name="Shape 3"/>
          <p:cNvSpPr/>
          <p:nvPr/>
        </p:nvSpPr>
        <p:spPr>
          <a:xfrm>
            <a:off x="2658643" y="3072384"/>
            <a:ext cx="320040" cy="164592"/>
          </a:xfrm>
          <a:prstGeom prst="rightArrow">
            <a:avLst/>
          </a:prstGeom>
          <a:solidFill>
            <a:srgbClr val="5A6472"/>
          </a:solidFill>
          <a:ln w="12700">
            <a:solidFill>
              <a:srgbClr val="333333"/>
            </a:solidFill>
            <a:prstDash val="solid"/>
          </a:ln>
        </p:spPr>
      </p:sp>
      <p:sp>
        <p:nvSpPr>
          <p:cNvPr id="6" name="Shape 4"/>
          <p:cNvSpPr/>
          <p:nvPr/>
        </p:nvSpPr>
        <p:spPr>
          <a:xfrm>
            <a:off x="2978683" y="2651760"/>
            <a:ext cx="2110003" cy="1005840"/>
          </a:xfrm>
          <a:prstGeom prst="roundRect">
            <a:avLst>
              <a:gd name="adj" fmla="val 5455"/>
            </a:avLst>
          </a:prstGeom>
          <a:solidFill>
            <a:srgbClr val="1E2761"/>
          </a:solidFill>
          <a:ln w="12700">
            <a:solidFill>
              <a:srgbClr val="D9DEE6"/>
            </a:solidFill>
            <a:prstDash val="solid"/>
          </a:ln>
        </p:spPr>
      </p:sp>
      <p:sp>
        <p:nvSpPr>
          <p:cNvPr id="7" name="Text 5"/>
          <p:cNvSpPr/>
          <p:nvPr/>
        </p:nvSpPr>
        <p:spPr>
          <a:xfrm>
            <a:off x="2978683" y="2651760"/>
            <a:ext cx="2110003" cy="1005840"/>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 Daily Scrum</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(se repite)</a:t>
            </a:r>
            <a:endParaRPr lang="en-US" sz="1250" dirty="0"/>
          </a:p>
        </p:txBody>
      </p:sp>
      <p:sp>
        <p:nvSpPr>
          <p:cNvPr id="8" name="Shape 6"/>
          <p:cNvSpPr/>
          <p:nvPr/>
        </p:nvSpPr>
        <p:spPr>
          <a:xfrm>
            <a:off x="5088685" y="3072384"/>
            <a:ext cx="320040" cy="164592"/>
          </a:xfrm>
          <a:prstGeom prst="rightArrow">
            <a:avLst/>
          </a:prstGeom>
          <a:solidFill>
            <a:srgbClr val="5A6472"/>
          </a:solidFill>
          <a:ln w="12700">
            <a:solidFill>
              <a:srgbClr val="333333"/>
            </a:solidFill>
            <a:prstDash val="solid"/>
          </a:ln>
        </p:spPr>
      </p:sp>
      <p:sp>
        <p:nvSpPr>
          <p:cNvPr id="9" name="Shape 7"/>
          <p:cNvSpPr/>
          <p:nvPr/>
        </p:nvSpPr>
        <p:spPr>
          <a:xfrm>
            <a:off x="5408725" y="2651760"/>
            <a:ext cx="2110003" cy="1005840"/>
          </a:xfrm>
          <a:prstGeom prst="roundRect">
            <a:avLst>
              <a:gd name="adj" fmla="val 5455"/>
            </a:avLst>
          </a:prstGeom>
          <a:solidFill>
            <a:srgbClr val="1E2761"/>
          </a:solidFill>
          <a:ln w="12700">
            <a:solidFill>
              <a:srgbClr val="D9DEE6"/>
            </a:solidFill>
            <a:prstDash val="solid"/>
          </a:ln>
        </p:spPr>
      </p:sp>
      <p:sp>
        <p:nvSpPr>
          <p:cNvPr id="10" name="Text 8"/>
          <p:cNvSpPr/>
          <p:nvPr/>
        </p:nvSpPr>
        <p:spPr>
          <a:xfrm>
            <a:off x="5408725" y="2651760"/>
            <a:ext cx="2110003" cy="1005840"/>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 Sprint</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Review</a:t>
            </a:r>
            <a:endParaRPr lang="en-US" sz="1250" dirty="0"/>
          </a:p>
        </p:txBody>
      </p:sp>
      <p:sp>
        <p:nvSpPr>
          <p:cNvPr id="11" name="Shape 9"/>
          <p:cNvSpPr/>
          <p:nvPr/>
        </p:nvSpPr>
        <p:spPr>
          <a:xfrm>
            <a:off x="7518728" y="3072384"/>
            <a:ext cx="320040" cy="164592"/>
          </a:xfrm>
          <a:prstGeom prst="rightArrow">
            <a:avLst/>
          </a:prstGeom>
          <a:solidFill>
            <a:srgbClr val="5A6472"/>
          </a:solidFill>
          <a:ln w="12700">
            <a:solidFill>
              <a:srgbClr val="333333"/>
            </a:solidFill>
            <a:prstDash val="solid"/>
          </a:ln>
        </p:spPr>
      </p:sp>
      <p:sp>
        <p:nvSpPr>
          <p:cNvPr id="12" name="Shape 10"/>
          <p:cNvSpPr/>
          <p:nvPr/>
        </p:nvSpPr>
        <p:spPr>
          <a:xfrm>
            <a:off x="7838768" y="2651760"/>
            <a:ext cx="2110003" cy="1005840"/>
          </a:xfrm>
          <a:prstGeom prst="roundRect">
            <a:avLst>
              <a:gd name="adj" fmla="val 5455"/>
            </a:avLst>
          </a:prstGeom>
          <a:solidFill>
            <a:srgbClr val="1E2761"/>
          </a:solidFill>
          <a:ln w="12700">
            <a:solidFill>
              <a:srgbClr val="D9DEE6"/>
            </a:solidFill>
            <a:prstDash val="solid"/>
          </a:ln>
        </p:spPr>
      </p:sp>
      <p:sp>
        <p:nvSpPr>
          <p:cNvPr id="13" name="Text 11"/>
          <p:cNvSpPr/>
          <p:nvPr/>
        </p:nvSpPr>
        <p:spPr>
          <a:xfrm>
            <a:off x="7838768" y="2651760"/>
            <a:ext cx="2110003" cy="1005840"/>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 Retrospectiva</a:t>
            </a:r>
            <a:endParaRPr lang="en-US" sz="1250" dirty="0"/>
          </a:p>
        </p:txBody>
      </p:sp>
      <p:sp>
        <p:nvSpPr>
          <p:cNvPr id="14" name="Shape 12"/>
          <p:cNvSpPr/>
          <p:nvPr/>
        </p:nvSpPr>
        <p:spPr>
          <a:xfrm>
            <a:off x="822960" y="3886200"/>
            <a:ext cx="8070809" cy="274320"/>
          </a:xfrm>
          <a:prstGeom prst="leftArrow">
            <a:avLst/>
          </a:prstGeom>
          <a:solidFill>
            <a:srgbClr val="1C7293"/>
          </a:solidFill>
          <a:ln w="12700">
            <a:solidFill>
              <a:srgbClr val="333333"/>
            </a:solidFill>
            <a:prstDash val="solid"/>
          </a:ln>
        </p:spPr>
      </p:sp>
      <p:sp>
        <p:nvSpPr>
          <p:cNvPr id="15" name="Text 13"/>
          <p:cNvSpPr/>
          <p:nvPr/>
        </p:nvSpPr>
        <p:spPr>
          <a:xfrm>
            <a:off x="548640" y="4434840"/>
            <a:ext cx="11091672" cy="548640"/>
          </a:xfrm>
          <a:prstGeom prst="rect">
            <a:avLst/>
          </a:prstGeom>
          <a:noFill/>
          <a:ln/>
        </p:spPr>
        <p:txBody>
          <a:bodyPr wrap="square" lIns="0" tIns="0" rIns="0" bIns="0" rtlCol="0" anchor="ctr"/>
          <a:lstStyle/>
          <a:p>
            <a:pPr algn="ctr" indent="0" marL="0">
              <a:buNone/>
            </a:pPr>
            <a:r>
              <a:rPr lang="en-US" sz="1400" i="1" dirty="0">
                <a:solidFill>
                  <a:srgbClr val="5A6472"/>
                </a:solidFill>
                <a:latin typeface="Calibri" pitchFamily="34" charset="0"/>
                <a:ea typeface="Calibri" pitchFamily="34" charset="-122"/>
                <a:cs typeface="Calibri" pitchFamily="34" charset="-120"/>
              </a:rPr>
              <a:t>El ciclo se repite: al cerrar la Retrospectiva, empieza de inmediato el Sprint Planning del siguiente Sprint.</a:t>
            </a:r>
            <a:endParaRPr lang="en-US" sz="1400" dirty="0"/>
          </a:p>
        </p:txBody>
      </p:sp>
      <p:sp>
        <p:nvSpPr>
          <p:cNvPr id="16" name="Text 14"/>
          <p:cNvSpPr/>
          <p:nvPr/>
        </p:nvSpPr>
        <p:spPr>
          <a:xfrm>
            <a:off x="548640" y="6446520"/>
            <a:ext cx="11091672" cy="274320"/>
          </a:xfrm>
          <a:prstGeom prst="rect">
            <a:avLst/>
          </a:prstGeom>
          <a:noFill/>
          <a:ln/>
        </p:spPr>
        <p:txBody>
          <a:bodyPr wrap="square" lIns="0" tIns="0" rIns="0" bIns="0" rtlCol="0" anchor="ctr"/>
          <a:lstStyle/>
          <a:p>
            <a:pPr algn="l" indent="0" marL="0">
              <a:buNone/>
            </a:pPr>
            <a:endParaRPr lang="en-US" sz="1000" dirty="0"/>
          </a:p>
        </p:txBody>
      </p:sp>
      <p:sp>
        <p:nvSpPr>
          <p:cNvPr id="17" name="Text 15"/>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Scrum en Jira · Roles, Artefactos, Eventos y su Mapeo</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2468880"/>
            <a:ext cx="11091672" cy="548640"/>
          </a:xfrm>
          <a:prstGeom prst="rect">
            <a:avLst/>
          </a:prstGeom>
          <a:noFill/>
          <a:ln/>
        </p:spPr>
        <p:txBody>
          <a:bodyPr wrap="square" lIns="0" tIns="0" rIns="0" bIns="0" rtlCol="0" anchor="ctr"/>
          <a:lstStyle/>
          <a:p>
            <a:pPr algn="ctr" indent="0" marL="0">
              <a:buNone/>
            </a:pPr>
            <a:r>
              <a:rPr lang="en-US" sz="1600" spc="300" kern="0" dirty="0">
                <a:solidFill>
                  <a:srgbClr val="CADCFC"/>
                </a:solidFill>
                <a:latin typeface="Calibri" pitchFamily="34" charset="0"/>
                <a:ea typeface="Calibri" pitchFamily="34" charset="-122"/>
                <a:cs typeface="Calibri" pitchFamily="34" charset="-120"/>
              </a:rPr>
              <a:t>PARTE 4</a:t>
            </a:r>
            <a:endParaRPr lang="en-US" sz="1600" dirty="0"/>
          </a:p>
        </p:txBody>
      </p:sp>
      <p:sp>
        <p:nvSpPr>
          <p:cNvPr id="3" name="Text 1"/>
          <p:cNvSpPr/>
          <p:nvPr/>
        </p:nvSpPr>
        <p:spPr>
          <a:xfrm>
            <a:off x="914400" y="3017520"/>
            <a:ext cx="10360152" cy="1463040"/>
          </a:xfrm>
          <a:prstGeom prst="rect">
            <a:avLst/>
          </a:prstGeom>
          <a:noFill/>
          <a:ln/>
        </p:spPr>
        <p:txBody>
          <a:bodyPr wrap="square" lIns="0" tIns="0" rIns="0" bIns="0" rtlCol="0" anchor="t"/>
          <a:lstStyle/>
          <a:p>
            <a:pPr algn="ctr" indent="0" marL="0">
              <a:buNone/>
            </a:pPr>
            <a:r>
              <a:rPr lang="en-US" sz="3200" b="1" dirty="0">
                <a:solidFill>
                  <a:srgbClr val="FFFFFF"/>
                </a:solidFill>
                <a:latin typeface="Cambria" pitchFamily="34" charset="0"/>
                <a:ea typeface="Cambria" pitchFamily="34" charset="-122"/>
                <a:cs typeface="Cambria" pitchFamily="34" charset="-120"/>
              </a:rPr>
              <a:t>Una Historia de Usuario, de Principio a Fin en Jira</a:t>
            </a:r>
            <a:endParaRPr lang="en-US" sz="3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lIns="0" tIns="0" rIns="0" bIns="0" rtlCol="0" anchor="t"/>
          <a:lstStyle/>
          <a:p>
            <a:pPr algn="l" indent="0" marL="0">
              <a:buNone/>
            </a:pPr>
            <a:r>
              <a:rPr lang="en-US" sz="2800" b="1" dirty="0">
                <a:solidFill>
                  <a:srgbClr val="1E2761"/>
                </a:solidFill>
                <a:latin typeface="Cambria" pitchFamily="34" charset="0"/>
                <a:ea typeface="Cambria" pitchFamily="34" charset="-122"/>
                <a:cs typeface="Cambria" pitchFamily="34" charset="-120"/>
              </a:rPr>
              <a:t>Paso 1 — Nace en el Backlog</a:t>
            </a:r>
            <a:endParaRPr lang="en-US" sz="2800" dirty="0"/>
          </a:p>
        </p:txBody>
      </p:sp>
      <p:sp>
        <p:nvSpPr>
          <p:cNvPr id="3" name="Shape 1"/>
          <p:cNvSpPr/>
          <p:nvPr/>
        </p:nvSpPr>
        <p:spPr>
          <a:xfrm>
            <a:off x="548640" y="1645920"/>
            <a:ext cx="11091672" cy="3108960"/>
          </a:xfrm>
          <a:prstGeom prst="roundRect">
            <a:avLst>
              <a:gd name="adj" fmla="val 1765"/>
            </a:avLst>
          </a:prstGeom>
          <a:solidFill>
            <a:srgbClr val="FFFFFF"/>
          </a:solidFill>
          <a:ln w="12700">
            <a:solidFill>
              <a:srgbClr val="D9DEE6"/>
            </a:solidFill>
            <a:prstDash val="solid"/>
          </a:ln>
        </p:spPr>
      </p:sp>
      <p:sp>
        <p:nvSpPr>
          <p:cNvPr id="4" name="Text 2"/>
          <p:cNvSpPr/>
          <p:nvPr/>
        </p:nvSpPr>
        <p:spPr>
          <a:xfrm>
            <a:off x="731520" y="1783080"/>
            <a:ext cx="3657600" cy="320040"/>
          </a:xfrm>
          <a:prstGeom prst="rect">
            <a:avLst/>
          </a:prstGeom>
          <a:noFill/>
          <a:ln/>
        </p:spPr>
        <p:txBody>
          <a:bodyPr wrap="square" lIns="0" tIns="0" rIns="0" bIns="0" rtlCol="0" anchor="ctr"/>
          <a:lstStyle/>
          <a:p>
            <a:pPr indent="0" marL="0">
              <a:buNone/>
            </a:pPr>
            <a:r>
              <a:rPr lang="en-US" sz="1200" b="1" dirty="0">
                <a:solidFill>
                  <a:srgbClr val="5A6472"/>
                </a:solidFill>
                <a:latin typeface="Calibri" pitchFamily="34" charset="0"/>
                <a:ea typeface="Calibri" pitchFamily="34" charset="-122"/>
                <a:cs typeface="Calibri" pitchFamily="34" charset="-120"/>
              </a:rPr>
              <a:t>Vista: Backlog</a:t>
            </a:r>
            <a:endParaRPr lang="en-US" sz="1200" dirty="0"/>
          </a:p>
        </p:txBody>
      </p:sp>
      <p:sp>
        <p:nvSpPr>
          <p:cNvPr id="5" name="Shape 3"/>
          <p:cNvSpPr/>
          <p:nvPr/>
        </p:nvSpPr>
        <p:spPr>
          <a:xfrm>
            <a:off x="822960" y="2286000"/>
            <a:ext cx="10543032" cy="457200"/>
          </a:xfrm>
          <a:prstGeom prst="roundRect">
            <a:avLst>
              <a:gd name="adj" fmla="val 12000"/>
            </a:avLst>
          </a:prstGeom>
          <a:solidFill>
            <a:srgbClr val="F4F6F9"/>
          </a:solidFill>
          <a:ln w="12700">
            <a:solidFill>
              <a:srgbClr val="D9DEE6"/>
            </a:solidFill>
            <a:prstDash val="solid"/>
          </a:ln>
        </p:spPr>
      </p:sp>
      <p:sp>
        <p:nvSpPr>
          <p:cNvPr id="6" name="Text 4"/>
          <p:cNvSpPr/>
          <p:nvPr/>
        </p:nvSpPr>
        <p:spPr>
          <a:xfrm>
            <a:off x="822960" y="2286000"/>
            <a:ext cx="10543032" cy="457200"/>
          </a:xfrm>
          <a:prstGeom prst="rect">
            <a:avLst/>
          </a:prstGeom>
          <a:noFill/>
          <a:ln/>
        </p:spPr>
        <p:txBody>
          <a:bodyPr wrap="square" lIns="25400" tIns="25400" rIns="25400" bIns="25400" rtlCol="0" anchor="ctr"/>
          <a:lstStyle/>
          <a:p>
            <a:pPr algn="l" indent="0" marL="0">
              <a:buNone/>
            </a:pPr>
            <a:r>
              <a:rPr lang="en-US" sz="1300" dirty="0">
                <a:solidFill>
                  <a:srgbClr val="222222"/>
                </a:solidFill>
                <a:latin typeface="Calibri" pitchFamily="34" charset="0"/>
                <a:ea typeface="Calibri" pitchFamily="34" charset="-122"/>
                <a:cs typeface="Calibri" pitchFamily="34" charset="-120"/>
              </a:rPr>
              <a:t>SIE-10  Ver mi horario de clases</a:t>
            </a:r>
            <a:endParaRPr lang="en-US" sz="1300" dirty="0"/>
          </a:p>
        </p:txBody>
      </p:sp>
      <p:sp>
        <p:nvSpPr>
          <p:cNvPr id="7" name="Shape 5"/>
          <p:cNvSpPr/>
          <p:nvPr/>
        </p:nvSpPr>
        <p:spPr>
          <a:xfrm>
            <a:off x="822960" y="2880360"/>
            <a:ext cx="10543032" cy="457200"/>
          </a:xfrm>
          <a:prstGeom prst="roundRect">
            <a:avLst>
              <a:gd name="adj" fmla="val 12000"/>
            </a:avLst>
          </a:prstGeom>
          <a:solidFill>
            <a:srgbClr val="F4F6F9"/>
          </a:solidFill>
          <a:ln w="12700">
            <a:solidFill>
              <a:srgbClr val="D9DEE6"/>
            </a:solidFill>
            <a:prstDash val="solid"/>
          </a:ln>
        </p:spPr>
      </p:sp>
      <p:sp>
        <p:nvSpPr>
          <p:cNvPr id="8" name="Text 6"/>
          <p:cNvSpPr/>
          <p:nvPr/>
        </p:nvSpPr>
        <p:spPr>
          <a:xfrm>
            <a:off x="822960" y="2880360"/>
            <a:ext cx="10543032" cy="457200"/>
          </a:xfrm>
          <a:prstGeom prst="rect">
            <a:avLst/>
          </a:prstGeom>
          <a:noFill/>
          <a:ln/>
        </p:spPr>
        <p:txBody>
          <a:bodyPr wrap="square" lIns="25400" tIns="25400" rIns="25400" bIns="25400" rtlCol="0" anchor="ctr"/>
          <a:lstStyle/>
          <a:p>
            <a:pPr algn="l" indent="0" marL="0">
              <a:buNone/>
            </a:pPr>
            <a:r>
              <a:rPr lang="en-US" sz="1300" dirty="0">
                <a:solidFill>
                  <a:srgbClr val="222222"/>
                </a:solidFill>
                <a:latin typeface="Calibri" pitchFamily="34" charset="0"/>
                <a:ea typeface="Calibri" pitchFamily="34" charset="-122"/>
                <a:cs typeface="Calibri" pitchFamily="34" charset="-120"/>
              </a:rPr>
              <a:t>SIE-11  Consultar mis calificaciones</a:t>
            </a:r>
            <a:endParaRPr lang="en-US" sz="1300" dirty="0"/>
          </a:p>
        </p:txBody>
      </p:sp>
      <p:sp>
        <p:nvSpPr>
          <p:cNvPr id="9" name="Shape 7"/>
          <p:cNvSpPr/>
          <p:nvPr/>
        </p:nvSpPr>
        <p:spPr>
          <a:xfrm>
            <a:off x="822960" y="3474720"/>
            <a:ext cx="10543032" cy="457200"/>
          </a:xfrm>
          <a:prstGeom prst="roundRect">
            <a:avLst>
              <a:gd name="adj" fmla="val 12000"/>
            </a:avLst>
          </a:prstGeom>
          <a:solidFill>
            <a:srgbClr val="CADCFC"/>
          </a:solidFill>
          <a:ln w="12700">
            <a:solidFill>
              <a:srgbClr val="1C7293"/>
            </a:solidFill>
            <a:prstDash val="solid"/>
          </a:ln>
        </p:spPr>
      </p:sp>
      <p:sp>
        <p:nvSpPr>
          <p:cNvPr id="10" name="Text 8"/>
          <p:cNvSpPr/>
          <p:nvPr/>
        </p:nvSpPr>
        <p:spPr>
          <a:xfrm>
            <a:off x="822960" y="3474720"/>
            <a:ext cx="10543032" cy="457200"/>
          </a:xfrm>
          <a:prstGeom prst="rect">
            <a:avLst/>
          </a:prstGeom>
          <a:noFill/>
          <a:ln/>
        </p:spPr>
        <p:txBody>
          <a:bodyPr wrap="square" lIns="25400" tIns="25400" rIns="25400" bIns="25400" rtlCol="0" anchor="ctr"/>
          <a:lstStyle/>
          <a:p>
            <a:pPr algn="l" indent="0" marL="0">
              <a:buNone/>
            </a:pPr>
            <a:r>
              <a:rPr lang="en-US" sz="1300" b="1" dirty="0">
                <a:solidFill>
                  <a:srgbClr val="222222"/>
                </a:solidFill>
                <a:latin typeface="Calibri" pitchFamily="34" charset="0"/>
                <a:ea typeface="Calibri" pitchFamily="34" charset="-122"/>
                <a:cs typeface="Calibri" pitchFamily="34" charset="-120"/>
              </a:rPr>
              <a:t>SIE-12  Inscribirme a mis materias del semestre</a:t>
            </a:r>
            <a:endParaRPr lang="en-US" sz="1300" dirty="0"/>
          </a:p>
        </p:txBody>
      </p:sp>
      <p:sp>
        <p:nvSpPr>
          <p:cNvPr id="11" name="Text 9"/>
          <p:cNvSpPr/>
          <p:nvPr/>
        </p:nvSpPr>
        <p:spPr>
          <a:xfrm>
            <a:off x="548640" y="5029200"/>
            <a:ext cx="11091672" cy="548640"/>
          </a:xfrm>
          <a:prstGeom prst="rect">
            <a:avLst/>
          </a:prstGeom>
          <a:noFill/>
          <a:ln/>
        </p:spPr>
        <p:txBody>
          <a:bodyPr wrap="square" lIns="0" tIns="0" rIns="0" bIns="0" rtlCol="0" anchor="ctr"/>
          <a:lstStyle/>
          <a:p>
            <a:pPr indent="0" marL="0">
              <a:buNone/>
            </a:pPr>
            <a:r>
              <a:rPr lang="en-US" sz="1400" i="1" dirty="0">
                <a:solidFill>
                  <a:srgbClr val="5A6472"/>
                </a:solidFill>
                <a:latin typeface="Calibri" pitchFamily="34" charset="0"/>
                <a:ea typeface="Calibri" pitchFamily="34" charset="-122"/>
                <a:cs typeface="Calibri" pitchFamily="34" charset="-120"/>
              </a:rPr>
              <a:t>Nuestra historia de ejemplo (SIE-12) vive aquí, priorizada junto a las demás — todavía sin asignar a ningún sprint.</a:t>
            </a:r>
            <a:endParaRPr lang="en-US" sz="1400" dirty="0"/>
          </a:p>
        </p:txBody>
      </p:sp>
      <p:sp>
        <p:nvSpPr>
          <p:cNvPr id="12" name="Text 10"/>
          <p:cNvSpPr/>
          <p:nvPr/>
        </p:nvSpPr>
        <p:spPr>
          <a:xfrm>
            <a:off x="548640" y="6446520"/>
            <a:ext cx="11091672" cy="274320"/>
          </a:xfrm>
          <a:prstGeom prst="rect">
            <a:avLst/>
          </a:prstGeom>
          <a:noFill/>
          <a:ln/>
        </p:spPr>
        <p:txBody>
          <a:bodyPr wrap="square" lIns="0" tIns="0" rIns="0" bIns="0" rtlCol="0" anchor="ctr"/>
          <a:lstStyle/>
          <a:p>
            <a:pPr algn="l" indent="0" marL="0">
              <a:buNone/>
            </a:pPr>
            <a:endParaRPr lang="en-US" sz="1000" dirty="0"/>
          </a:p>
        </p:txBody>
      </p:sp>
      <p:sp>
        <p:nvSpPr>
          <p:cNvPr id="13" name="Text 11"/>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Scrum en Jira · Roles, Artefactos, Eventos y su Mapeo</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lIns="0" tIns="0" rIns="0" bIns="0" rtlCol="0" anchor="t"/>
          <a:lstStyle/>
          <a:p>
            <a:pPr algn="l" indent="0" marL="0">
              <a:buNone/>
            </a:pPr>
            <a:r>
              <a:rPr lang="en-US" sz="2800" b="1" dirty="0">
                <a:solidFill>
                  <a:srgbClr val="1E2761"/>
                </a:solidFill>
                <a:latin typeface="Cambria" pitchFamily="34" charset="0"/>
                <a:ea typeface="Cambria" pitchFamily="34" charset="-122"/>
                <a:cs typeface="Cambria" pitchFamily="34" charset="-120"/>
              </a:rPr>
              <a:t>Paso 2 — Sprint Planning</a:t>
            </a:r>
            <a:endParaRPr lang="en-US" sz="2800" dirty="0"/>
          </a:p>
        </p:txBody>
      </p:sp>
      <p:sp>
        <p:nvSpPr>
          <p:cNvPr id="3" name="Shape 1"/>
          <p:cNvSpPr/>
          <p:nvPr/>
        </p:nvSpPr>
        <p:spPr>
          <a:xfrm>
            <a:off x="548640" y="2011680"/>
            <a:ext cx="4937760" cy="2377440"/>
          </a:xfrm>
          <a:prstGeom prst="roundRect">
            <a:avLst>
              <a:gd name="adj" fmla="val 2308"/>
            </a:avLst>
          </a:prstGeom>
          <a:solidFill>
            <a:srgbClr val="FFFFFF"/>
          </a:solidFill>
          <a:ln w="12700">
            <a:solidFill>
              <a:srgbClr val="D9DEE6"/>
            </a:solidFill>
            <a:prstDash val="solid"/>
          </a:ln>
        </p:spPr>
      </p:sp>
      <p:sp>
        <p:nvSpPr>
          <p:cNvPr id="4" name="Text 2"/>
          <p:cNvSpPr/>
          <p:nvPr/>
        </p:nvSpPr>
        <p:spPr>
          <a:xfrm>
            <a:off x="548640" y="2011680"/>
            <a:ext cx="4937760" cy="2377440"/>
          </a:xfrm>
          <a:prstGeom prst="rect">
            <a:avLst/>
          </a:prstGeom>
          <a:noFill/>
          <a:ln/>
        </p:spPr>
        <p:txBody>
          <a:bodyPr wrap="square" lIns="25400" tIns="25400" rIns="25400" bIns="25400" rtlCol="0" anchor="t"/>
          <a:lstStyle/>
          <a:p>
            <a:pPr algn="l" indent="0" marL="0">
              <a:buNone/>
            </a:pPr>
            <a:r>
              <a:rPr lang="en-US" sz="1200" b="1" dirty="0">
                <a:solidFill>
                  <a:srgbClr val="222222"/>
                </a:solidFill>
                <a:latin typeface="Calibri" pitchFamily="34" charset="0"/>
                <a:ea typeface="Calibri" pitchFamily="34" charset="-122"/>
                <a:cs typeface="Calibri" pitchFamily="34" charset="-120"/>
              </a:rPr>
              <a:t>Backlog</a:t>
            </a:r>
            <a:endParaRPr lang="en-US" sz="1200" dirty="0"/>
          </a:p>
        </p:txBody>
      </p:sp>
      <p:sp>
        <p:nvSpPr>
          <p:cNvPr id="5" name="Shape 3"/>
          <p:cNvSpPr/>
          <p:nvPr/>
        </p:nvSpPr>
        <p:spPr>
          <a:xfrm>
            <a:off x="822960" y="2651760"/>
            <a:ext cx="4389120" cy="457200"/>
          </a:xfrm>
          <a:prstGeom prst="roundRect">
            <a:avLst>
              <a:gd name="adj" fmla="val 12000"/>
            </a:avLst>
          </a:prstGeom>
          <a:solidFill>
            <a:srgbClr val="F4F6F9"/>
          </a:solidFill>
          <a:ln w="12700">
            <a:solidFill>
              <a:srgbClr val="D9DEE6"/>
            </a:solidFill>
            <a:prstDash val="solid"/>
          </a:ln>
        </p:spPr>
      </p:sp>
      <p:sp>
        <p:nvSpPr>
          <p:cNvPr id="6" name="Text 4"/>
          <p:cNvSpPr/>
          <p:nvPr/>
        </p:nvSpPr>
        <p:spPr>
          <a:xfrm>
            <a:off x="822960" y="2651760"/>
            <a:ext cx="4389120" cy="457200"/>
          </a:xfrm>
          <a:prstGeom prst="rect">
            <a:avLst/>
          </a:prstGeom>
          <a:noFill/>
          <a:ln/>
        </p:spPr>
        <p:txBody>
          <a:bodyPr wrap="square" lIns="25400" tIns="25400" rIns="25400" bIns="25400"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SIE-10  Ver mi horario</a:t>
            </a:r>
            <a:endParaRPr lang="en-US" sz="1200" dirty="0"/>
          </a:p>
        </p:txBody>
      </p:sp>
      <p:sp>
        <p:nvSpPr>
          <p:cNvPr id="7" name="Shape 5"/>
          <p:cNvSpPr/>
          <p:nvPr/>
        </p:nvSpPr>
        <p:spPr>
          <a:xfrm>
            <a:off x="822960" y="3200400"/>
            <a:ext cx="4389120" cy="457200"/>
          </a:xfrm>
          <a:prstGeom prst="roundRect">
            <a:avLst>
              <a:gd name="adj" fmla="val 12000"/>
            </a:avLst>
          </a:prstGeom>
          <a:solidFill>
            <a:srgbClr val="F4F6F9"/>
          </a:solidFill>
          <a:ln w="12700">
            <a:solidFill>
              <a:srgbClr val="D9DEE6"/>
            </a:solidFill>
            <a:prstDash val="solid"/>
          </a:ln>
        </p:spPr>
      </p:sp>
      <p:sp>
        <p:nvSpPr>
          <p:cNvPr id="8" name="Text 6"/>
          <p:cNvSpPr/>
          <p:nvPr/>
        </p:nvSpPr>
        <p:spPr>
          <a:xfrm>
            <a:off x="822960" y="3200400"/>
            <a:ext cx="4389120" cy="457200"/>
          </a:xfrm>
          <a:prstGeom prst="rect">
            <a:avLst/>
          </a:prstGeom>
          <a:noFill/>
          <a:ln/>
        </p:spPr>
        <p:txBody>
          <a:bodyPr wrap="square" lIns="25400" tIns="25400" rIns="25400" bIns="25400"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SIE-11  Consultar calificaciones</a:t>
            </a:r>
            <a:endParaRPr lang="en-US" sz="1200" dirty="0"/>
          </a:p>
        </p:txBody>
      </p:sp>
      <p:sp>
        <p:nvSpPr>
          <p:cNvPr id="9" name="Shape 7"/>
          <p:cNvSpPr/>
          <p:nvPr/>
        </p:nvSpPr>
        <p:spPr>
          <a:xfrm>
            <a:off x="5577840" y="3063240"/>
            <a:ext cx="822960" cy="365760"/>
          </a:xfrm>
          <a:prstGeom prst="rightArrow">
            <a:avLst/>
          </a:prstGeom>
          <a:solidFill>
            <a:srgbClr val="5A6472"/>
          </a:solidFill>
          <a:ln w="12700">
            <a:solidFill>
              <a:srgbClr val="333333"/>
            </a:solidFill>
            <a:prstDash val="solid"/>
          </a:ln>
        </p:spPr>
      </p:sp>
      <p:sp>
        <p:nvSpPr>
          <p:cNvPr id="10" name="Shape 8"/>
          <p:cNvSpPr/>
          <p:nvPr/>
        </p:nvSpPr>
        <p:spPr>
          <a:xfrm>
            <a:off x="6583680" y="2011680"/>
            <a:ext cx="4937760" cy="2377440"/>
          </a:xfrm>
          <a:prstGeom prst="roundRect">
            <a:avLst>
              <a:gd name="adj" fmla="val 2308"/>
            </a:avLst>
          </a:prstGeom>
          <a:solidFill>
            <a:srgbClr val="FFFFFF"/>
          </a:solidFill>
          <a:ln w="12700">
            <a:solidFill>
              <a:srgbClr val="1C7293"/>
            </a:solidFill>
            <a:prstDash val="solid"/>
          </a:ln>
        </p:spPr>
      </p:sp>
      <p:sp>
        <p:nvSpPr>
          <p:cNvPr id="11" name="Text 9"/>
          <p:cNvSpPr/>
          <p:nvPr/>
        </p:nvSpPr>
        <p:spPr>
          <a:xfrm>
            <a:off x="6583680" y="2011680"/>
            <a:ext cx="4937760" cy="2377440"/>
          </a:xfrm>
          <a:prstGeom prst="rect">
            <a:avLst/>
          </a:prstGeom>
          <a:noFill/>
          <a:ln/>
        </p:spPr>
        <p:txBody>
          <a:bodyPr wrap="square" lIns="25400" tIns="25400" rIns="25400" bIns="25400" rtlCol="0" anchor="t"/>
          <a:lstStyle/>
          <a:p>
            <a:pPr algn="l" indent="0" marL="0">
              <a:buNone/>
            </a:pPr>
            <a:r>
              <a:rPr lang="en-US" sz="1200" b="1" dirty="0">
                <a:solidFill>
                  <a:srgbClr val="222222"/>
                </a:solidFill>
                <a:latin typeface="Calibri" pitchFamily="34" charset="0"/>
                <a:ea typeface="Calibri" pitchFamily="34" charset="-122"/>
                <a:cs typeface="Calibri" pitchFamily="34" charset="-120"/>
              </a:rPr>
              <a:t>Sprint 1</a:t>
            </a:r>
            <a:endParaRPr lang="en-US" sz="1200" dirty="0"/>
          </a:p>
        </p:txBody>
      </p:sp>
      <p:sp>
        <p:nvSpPr>
          <p:cNvPr id="12" name="Shape 10"/>
          <p:cNvSpPr/>
          <p:nvPr/>
        </p:nvSpPr>
        <p:spPr>
          <a:xfrm>
            <a:off x="6858000" y="2651760"/>
            <a:ext cx="4389120" cy="457200"/>
          </a:xfrm>
          <a:prstGeom prst="roundRect">
            <a:avLst>
              <a:gd name="adj" fmla="val 12000"/>
            </a:avLst>
          </a:prstGeom>
          <a:solidFill>
            <a:srgbClr val="CADCFC"/>
          </a:solidFill>
          <a:ln w="12700">
            <a:solidFill>
              <a:srgbClr val="1C7293"/>
            </a:solidFill>
            <a:prstDash val="solid"/>
          </a:ln>
        </p:spPr>
      </p:sp>
      <p:sp>
        <p:nvSpPr>
          <p:cNvPr id="13" name="Text 11"/>
          <p:cNvSpPr/>
          <p:nvPr/>
        </p:nvSpPr>
        <p:spPr>
          <a:xfrm>
            <a:off x="6858000" y="2651760"/>
            <a:ext cx="4389120" cy="457200"/>
          </a:xfrm>
          <a:prstGeom prst="rect">
            <a:avLst/>
          </a:prstGeom>
          <a:noFill/>
          <a:ln/>
        </p:spPr>
        <p:txBody>
          <a:bodyPr wrap="square" lIns="25400" tIns="25400" rIns="25400" bIns="25400" rtlCol="0" anchor="ctr"/>
          <a:lstStyle/>
          <a:p>
            <a:pPr algn="l" indent="0" marL="0">
              <a:buNone/>
            </a:pPr>
            <a:r>
              <a:rPr lang="en-US" sz="1200" b="1" dirty="0">
                <a:solidFill>
                  <a:srgbClr val="222222"/>
                </a:solidFill>
                <a:latin typeface="Calibri" pitchFamily="34" charset="0"/>
                <a:ea typeface="Calibri" pitchFamily="34" charset="-122"/>
                <a:cs typeface="Calibri" pitchFamily="34" charset="-120"/>
              </a:rPr>
              <a:t>SIE-12  Inscribirme a mis materias</a:t>
            </a:r>
            <a:endParaRPr lang="en-US" sz="1200" dirty="0"/>
          </a:p>
        </p:txBody>
      </p:sp>
      <p:sp>
        <p:nvSpPr>
          <p:cNvPr id="14" name="Text 12"/>
          <p:cNvSpPr/>
          <p:nvPr/>
        </p:nvSpPr>
        <p:spPr>
          <a:xfrm>
            <a:off x="548640" y="4937760"/>
            <a:ext cx="11091672" cy="640080"/>
          </a:xfrm>
          <a:prstGeom prst="rect">
            <a:avLst/>
          </a:prstGeom>
          <a:noFill/>
          <a:ln/>
        </p:spPr>
        <p:txBody>
          <a:bodyPr wrap="square" lIns="0" tIns="0" rIns="0" bIns="0" rtlCol="0" anchor="ctr"/>
          <a:lstStyle/>
          <a:p>
            <a:pPr indent="0" marL="0">
              <a:buNone/>
            </a:pPr>
            <a:r>
              <a:rPr lang="en-US" sz="1400" i="1" dirty="0">
                <a:solidFill>
                  <a:srgbClr val="5A6472"/>
                </a:solidFill>
                <a:latin typeface="Calibri" pitchFamily="34" charset="0"/>
                <a:ea typeface="Calibri" pitchFamily="34" charset="-122"/>
                <a:cs typeface="Calibri" pitchFamily="34" charset="-120"/>
              </a:rPr>
              <a:t>El equipo arrastra SIE-12 del Backlog al Sprint 1 y presiona "Start sprint" — define duración y, opcionalmente, un Sprint Goal.</a:t>
            </a:r>
            <a:endParaRPr lang="en-US" sz="1400" dirty="0"/>
          </a:p>
        </p:txBody>
      </p:sp>
      <p:sp>
        <p:nvSpPr>
          <p:cNvPr id="15" name="Text 13"/>
          <p:cNvSpPr/>
          <p:nvPr/>
        </p:nvSpPr>
        <p:spPr>
          <a:xfrm>
            <a:off x="548640" y="6446520"/>
            <a:ext cx="11091672" cy="274320"/>
          </a:xfrm>
          <a:prstGeom prst="rect">
            <a:avLst/>
          </a:prstGeom>
          <a:noFill/>
          <a:ln/>
        </p:spPr>
        <p:txBody>
          <a:bodyPr wrap="square" lIns="0" tIns="0" rIns="0" bIns="0" rtlCol="0" anchor="ctr"/>
          <a:lstStyle/>
          <a:p>
            <a:pPr algn="l" indent="0" marL="0">
              <a:buNone/>
            </a:pPr>
            <a:endParaRPr lang="en-US" sz="1000" dirty="0"/>
          </a:p>
        </p:txBody>
      </p:sp>
      <p:sp>
        <p:nvSpPr>
          <p:cNvPr id="16" name="Text 14"/>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Scrum en Jira · Roles, Artefactos, Eventos y su Mapeo</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lIns="0" tIns="0" rIns="0" bIns="0" rtlCol="0" anchor="t"/>
          <a:lstStyle/>
          <a:p>
            <a:pPr algn="l" indent="0" marL="0">
              <a:buNone/>
            </a:pPr>
            <a:r>
              <a:rPr lang="en-US" sz="2800" b="1" dirty="0">
                <a:solidFill>
                  <a:srgbClr val="1E2761"/>
                </a:solidFill>
                <a:latin typeface="Cambria" pitchFamily="34" charset="0"/>
                <a:ea typeface="Cambria" pitchFamily="34" charset="-122"/>
                <a:cs typeface="Cambria" pitchFamily="34" charset="-120"/>
              </a:rPr>
              <a:t>Paso 3 — El Board Durante el Sprint</a:t>
            </a:r>
            <a:endParaRPr lang="en-US" sz="2800" dirty="0"/>
          </a:p>
        </p:txBody>
      </p:sp>
      <p:sp>
        <p:nvSpPr>
          <p:cNvPr id="3" name="Shape 1"/>
          <p:cNvSpPr/>
          <p:nvPr/>
        </p:nvSpPr>
        <p:spPr>
          <a:xfrm>
            <a:off x="548640" y="1737360"/>
            <a:ext cx="3514344" cy="3291840"/>
          </a:xfrm>
          <a:prstGeom prst="roundRect">
            <a:avLst>
              <a:gd name="adj" fmla="val 1667"/>
            </a:avLst>
          </a:prstGeom>
          <a:solidFill>
            <a:srgbClr val="F4F6F9"/>
          </a:solidFill>
          <a:ln w="12700">
            <a:solidFill>
              <a:srgbClr val="D9DEE6"/>
            </a:solidFill>
            <a:prstDash val="solid"/>
          </a:ln>
        </p:spPr>
      </p:sp>
      <p:sp>
        <p:nvSpPr>
          <p:cNvPr id="4" name="Text 2"/>
          <p:cNvSpPr/>
          <p:nvPr/>
        </p:nvSpPr>
        <p:spPr>
          <a:xfrm>
            <a:off x="548640" y="1828800"/>
            <a:ext cx="3514344" cy="320040"/>
          </a:xfrm>
          <a:prstGeom prst="rect">
            <a:avLst/>
          </a:prstGeom>
          <a:noFill/>
          <a:ln/>
        </p:spPr>
        <p:txBody>
          <a:bodyPr wrap="square" lIns="0" tIns="0" rIns="0" bIns="0" rtlCol="0" anchor="ctr"/>
          <a:lstStyle/>
          <a:p>
            <a:pPr algn="ctr" indent="0" marL="0">
              <a:buNone/>
            </a:pPr>
            <a:r>
              <a:rPr lang="en-US" sz="1200" b="1" dirty="0">
                <a:solidFill>
                  <a:srgbClr val="5A6472"/>
                </a:solidFill>
                <a:latin typeface="Calibri" pitchFamily="34" charset="0"/>
                <a:ea typeface="Calibri" pitchFamily="34" charset="-122"/>
                <a:cs typeface="Calibri" pitchFamily="34" charset="-120"/>
              </a:rPr>
              <a:t>TO DO</a:t>
            </a:r>
            <a:endParaRPr lang="en-US" sz="1200" dirty="0"/>
          </a:p>
        </p:txBody>
      </p:sp>
      <p:sp>
        <p:nvSpPr>
          <p:cNvPr id="5" name="Shape 3"/>
          <p:cNvSpPr/>
          <p:nvPr/>
        </p:nvSpPr>
        <p:spPr>
          <a:xfrm>
            <a:off x="4337304" y="1737360"/>
            <a:ext cx="3514344" cy="3291840"/>
          </a:xfrm>
          <a:prstGeom prst="roundRect">
            <a:avLst>
              <a:gd name="adj" fmla="val 1667"/>
            </a:avLst>
          </a:prstGeom>
          <a:solidFill>
            <a:srgbClr val="F4F6F9"/>
          </a:solidFill>
          <a:ln w="12700">
            <a:solidFill>
              <a:srgbClr val="D9DEE6"/>
            </a:solidFill>
            <a:prstDash val="solid"/>
          </a:ln>
        </p:spPr>
      </p:sp>
      <p:sp>
        <p:nvSpPr>
          <p:cNvPr id="6" name="Text 4"/>
          <p:cNvSpPr/>
          <p:nvPr/>
        </p:nvSpPr>
        <p:spPr>
          <a:xfrm>
            <a:off x="4337304" y="1828800"/>
            <a:ext cx="3514344" cy="320040"/>
          </a:xfrm>
          <a:prstGeom prst="rect">
            <a:avLst/>
          </a:prstGeom>
          <a:noFill/>
          <a:ln/>
        </p:spPr>
        <p:txBody>
          <a:bodyPr wrap="square" lIns="0" tIns="0" rIns="0" bIns="0" rtlCol="0" anchor="ctr"/>
          <a:lstStyle/>
          <a:p>
            <a:pPr algn="ctr" indent="0" marL="0">
              <a:buNone/>
            </a:pPr>
            <a:r>
              <a:rPr lang="en-US" sz="1200" b="1" dirty="0">
                <a:solidFill>
                  <a:srgbClr val="5A6472"/>
                </a:solidFill>
                <a:latin typeface="Calibri" pitchFamily="34" charset="0"/>
                <a:ea typeface="Calibri" pitchFamily="34" charset="-122"/>
                <a:cs typeface="Calibri" pitchFamily="34" charset="-120"/>
              </a:rPr>
              <a:t>IN PROGRESS</a:t>
            </a:r>
            <a:endParaRPr lang="en-US" sz="1200" dirty="0"/>
          </a:p>
        </p:txBody>
      </p:sp>
      <p:sp>
        <p:nvSpPr>
          <p:cNvPr id="7" name="Shape 5"/>
          <p:cNvSpPr/>
          <p:nvPr/>
        </p:nvSpPr>
        <p:spPr>
          <a:xfrm>
            <a:off x="4520184" y="2286000"/>
            <a:ext cx="3148584" cy="502920"/>
          </a:xfrm>
          <a:prstGeom prst="roundRect">
            <a:avLst>
              <a:gd name="adj" fmla="val 10909"/>
            </a:avLst>
          </a:prstGeom>
          <a:solidFill>
            <a:srgbClr val="CADCFC"/>
          </a:solidFill>
          <a:ln w="12700">
            <a:solidFill>
              <a:srgbClr val="1C7293"/>
            </a:solidFill>
            <a:prstDash val="solid"/>
          </a:ln>
        </p:spPr>
      </p:sp>
      <p:sp>
        <p:nvSpPr>
          <p:cNvPr id="8" name="Text 6"/>
          <p:cNvSpPr/>
          <p:nvPr/>
        </p:nvSpPr>
        <p:spPr>
          <a:xfrm>
            <a:off x="4520184" y="2286000"/>
            <a:ext cx="3148584" cy="502920"/>
          </a:xfrm>
          <a:prstGeom prst="rect">
            <a:avLst/>
          </a:prstGeom>
          <a:noFill/>
          <a:ln/>
        </p:spPr>
        <p:txBody>
          <a:bodyPr wrap="square" lIns="25400" tIns="25400" rIns="25400" bIns="25400" rtlCol="0" anchor="ctr"/>
          <a:lstStyle/>
          <a:p>
            <a:pPr algn="ctr" indent="0" marL="0">
              <a:buNone/>
            </a:pPr>
            <a:r>
              <a:rPr lang="en-US" sz="1100" b="1" dirty="0">
                <a:solidFill>
                  <a:srgbClr val="222222"/>
                </a:solidFill>
                <a:latin typeface="Calibri" pitchFamily="34" charset="0"/>
                <a:ea typeface="Calibri" pitchFamily="34" charset="-122"/>
                <a:cs typeface="Calibri" pitchFamily="34" charset="-120"/>
              </a:rPr>
              <a:t>SIE-12</a:t>
            </a:r>
            <a:endParaRPr lang="en-US" sz="1100" dirty="0"/>
          </a:p>
          <a:p>
            <a:pPr algn="ctr" indent="0" marL="0">
              <a:buNone/>
            </a:pPr>
            <a:r>
              <a:rPr lang="en-US" sz="1100" b="1" dirty="0">
                <a:solidFill>
                  <a:srgbClr val="222222"/>
                </a:solidFill>
                <a:latin typeface="Calibri" pitchFamily="34" charset="0"/>
                <a:ea typeface="Calibri" pitchFamily="34" charset="-122"/>
                <a:cs typeface="Calibri" pitchFamily="34" charset="-120"/>
              </a:rPr>
              <a:t>Inscribirme a materias</a:t>
            </a:r>
            <a:endParaRPr lang="en-US" sz="1100" dirty="0"/>
          </a:p>
        </p:txBody>
      </p:sp>
      <p:sp>
        <p:nvSpPr>
          <p:cNvPr id="9" name="Shape 7"/>
          <p:cNvSpPr/>
          <p:nvPr/>
        </p:nvSpPr>
        <p:spPr>
          <a:xfrm>
            <a:off x="8125968" y="1737360"/>
            <a:ext cx="3514344" cy="3291840"/>
          </a:xfrm>
          <a:prstGeom prst="roundRect">
            <a:avLst>
              <a:gd name="adj" fmla="val 1667"/>
            </a:avLst>
          </a:prstGeom>
          <a:solidFill>
            <a:srgbClr val="F4F6F9"/>
          </a:solidFill>
          <a:ln w="12700">
            <a:solidFill>
              <a:srgbClr val="D9DEE6"/>
            </a:solidFill>
            <a:prstDash val="solid"/>
          </a:ln>
        </p:spPr>
      </p:sp>
      <p:sp>
        <p:nvSpPr>
          <p:cNvPr id="10" name="Text 8"/>
          <p:cNvSpPr/>
          <p:nvPr/>
        </p:nvSpPr>
        <p:spPr>
          <a:xfrm>
            <a:off x="8125968" y="1828800"/>
            <a:ext cx="3514344" cy="320040"/>
          </a:xfrm>
          <a:prstGeom prst="rect">
            <a:avLst/>
          </a:prstGeom>
          <a:noFill/>
          <a:ln/>
        </p:spPr>
        <p:txBody>
          <a:bodyPr wrap="square" lIns="0" tIns="0" rIns="0" bIns="0" rtlCol="0" anchor="ctr"/>
          <a:lstStyle/>
          <a:p>
            <a:pPr algn="ctr" indent="0" marL="0">
              <a:buNone/>
            </a:pPr>
            <a:r>
              <a:rPr lang="en-US" sz="1200" b="1" dirty="0">
                <a:solidFill>
                  <a:srgbClr val="5A6472"/>
                </a:solidFill>
                <a:latin typeface="Calibri" pitchFamily="34" charset="0"/>
                <a:ea typeface="Calibri" pitchFamily="34" charset="-122"/>
                <a:cs typeface="Calibri" pitchFamily="34" charset="-120"/>
              </a:rPr>
              <a:t>DONE</a:t>
            </a:r>
            <a:endParaRPr lang="en-US" sz="1200" dirty="0"/>
          </a:p>
        </p:txBody>
      </p:sp>
      <p:sp>
        <p:nvSpPr>
          <p:cNvPr id="11" name="Text 9"/>
          <p:cNvSpPr/>
          <p:nvPr/>
        </p:nvSpPr>
        <p:spPr>
          <a:xfrm>
            <a:off x="548640" y="5212080"/>
            <a:ext cx="11091672" cy="548640"/>
          </a:xfrm>
          <a:prstGeom prst="rect">
            <a:avLst/>
          </a:prstGeom>
          <a:noFill/>
          <a:ln/>
        </p:spPr>
        <p:txBody>
          <a:bodyPr wrap="square" lIns="0" tIns="0" rIns="0" bIns="0" rtlCol="0" anchor="ctr"/>
          <a:lstStyle/>
          <a:p>
            <a:pPr indent="0" marL="0">
              <a:buNone/>
            </a:pPr>
            <a:r>
              <a:rPr lang="en-US" sz="1400" i="1" dirty="0">
                <a:solidFill>
                  <a:srgbClr val="5A6472"/>
                </a:solidFill>
                <a:latin typeface="Calibri" pitchFamily="34" charset="0"/>
                <a:ea typeface="Calibri" pitchFamily="34" charset="-122"/>
                <a:cs typeface="Calibri" pitchFamily="34" charset="-120"/>
              </a:rPr>
              <a:t>Cada integrante mueve sus propias tarjetas conforme avanza — el Board es el reflejo visual del Daily Scrum, no un sustituto de la conversación.</a:t>
            </a:r>
            <a:endParaRPr lang="en-US" sz="1400" dirty="0"/>
          </a:p>
        </p:txBody>
      </p:sp>
      <p:sp>
        <p:nvSpPr>
          <p:cNvPr id="12" name="Text 10"/>
          <p:cNvSpPr/>
          <p:nvPr/>
        </p:nvSpPr>
        <p:spPr>
          <a:xfrm>
            <a:off x="548640" y="6446520"/>
            <a:ext cx="11091672" cy="274320"/>
          </a:xfrm>
          <a:prstGeom prst="rect">
            <a:avLst/>
          </a:prstGeom>
          <a:noFill/>
          <a:ln/>
        </p:spPr>
        <p:txBody>
          <a:bodyPr wrap="square" lIns="0" tIns="0" rIns="0" bIns="0" rtlCol="0" anchor="ctr"/>
          <a:lstStyle/>
          <a:p>
            <a:pPr algn="l" indent="0" marL="0">
              <a:buNone/>
            </a:pPr>
            <a:endParaRPr lang="en-US" sz="1000" dirty="0"/>
          </a:p>
        </p:txBody>
      </p:sp>
      <p:sp>
        <p:nvSpPr>
          <p:cNvPr id="13" name="Text 11"/>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Scrum en Jira · Roles, Artefactos, Eventos y su Mapeo</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lIns="0" tIns="0" rIns="0" bIns="0" rtlCol="0" anchor="t"/>
          <a:lstStyle/>
          <a:p>
            <a:pPr algn="l" indent="0" marL="0">
              <a:buNone/>
            </a:pPr>
            <a:r>
              <a:rPr lang="en-US" sz="2800" b="1" dirty="0">
                <a:solidFill>
                  <a:srgbClr val="1E2761"/>
                </a:solidFill>
                <a:latin typeface="Cambria" pitchFamily="34" charset="0"/>
                <a:ea typeface="Cambria" pitchFamily="34" charset="-122"/>
                <a:cs typeface="Cambria" pitchFamily="34" charset="-120"/>
              </a:rPr>
              <a:t>Paso 4 y 5 — Sprint Review y el Incremento</a:t>
            </a:r>
            <a:endParaRPr lang="en-US" sz="2800" dirty="0"/>
          </a:p>
        </p:txBody>
      </p:sp>
      <p:sp>
        <p:nvSpPr>
          <p:cNvPr id="3" name="Shape 1"/>
          <p:cNvSpPr/>
          <p:nvPr/>
        </p:nvSpPr>
        <p:spPr>
          <a:xfrm>
            <a:off x="548640" y="1737360"/>
            <a:ext cx="5362956" cy="3017520"/>
          </a:xfrm>
          <a:prstGeom prst="roundRect">
            <a:avLst>
              <a:gd name="adj" fmla="val 1818"/>
            </a:avLst>
          </a:prstGeom>
          <a:solidFill>
            <a:srgbClr val="FFFFFF"/>
          </a:solidFill>
          <a:ln w="12700">
            <a:solidFill>
              <a:srgbClr val="D9DEE6"/>
            </a:solidFill>
            <a:prstDash val="solid"/>
          </a:ln>
        </p:spPr>
      </p:sp>
      <p:sp>
        <p:nvSpPr>
          <p:cNvPr id="4" name="Text 2"/>
          <p:cNvSpPr/>
          <p:nvPr/>
        </p:nvSpPr>
        <p:spPr>
          <a:xfrm>
            <a:off x="731520" y="1874520"/>
            <a:ext cx="45720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Sprint Review</a:t>
            </a:r>
            <a:endParaRPr lang="en-US" sz="1300" dirty="0"/>
          </a:p>
        </p:txBody>
      </p:sp>
      <p:sp>
        <p:nvSpPr>
          <p:cNvPr id="5" name="Text 3"/>
          <p:cNvSpPr/>
          <p:nvPr/>
        </p:nvSpPr>
        <p:spPr>
          <a:xfrm>
            <a:off x="822960" y="2377440"/>
            <a:ext cx="4572000" cy="2103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Se demuestra SIE-12 funcionando al Product Owner</a:t>
            </a:r>
            <a:endParaRPr lang="en-US" sz="1300" dirty="0"/>
          </a:p>
          <a:p>
            <a:pPr marL="342900" indent="-342900">
              <a:buSzPct val="100000"/>
              <a:buChar char="•"/>
            </a:pPr>
            <a:r>
              <a:rPr lang="en-US" sz="1300" dirty="0">
                <a:solidFill>
                  <a:srgbClr val="222222"/>
                </a:solidFill>
                <a:latin typeface="Calibri" pitchFamily="34" charset="0"/>
                <a:ea typeface="Calibri" pitchFamily="34" charset="-122"/>
                <a:cs typeface="Calibri" pitchFamily="34" charset="-120"/>
              </a:rPr>
              <a:t>"Complete sprint" cierra el ciclo en Jira</a:t>
            </a:r>
            <a:endParaRPr lang="en-US" sz="1300" dirty="0"/>
          </a:p>
        </p:txBody>
      </p:sp>
      <p:sp>
        <p:nvSpPr>
          <p:cNvPr id="6" name="Shape 4"/>
          <p:cNvSpPr/>
          <p:nvPr/>
        </p:nvSpPr>
        <p:spPr>
          <a:xfrm>
            <a:off x="6277356" y="1737360"/>
            <a:ext cx="5362956" cy="3017520"/>
          </a:xfrm>
          <a:prstGeom prst="roundRect">
            <a:avLst>
              <a:gd name="adj" fmla="val 1818"/>
            </a:avLst>
          </a:prstGeom>
          <a:solidFill>
            <a:srgbClr val="FFFFFF"/>
          </a:solidFill>
          <a:ln w="12700">
            <a:solidFill>
              <a:srgbClr val="1C7293"/>
            </a:solidFill>
            <a:prstDash val="solid"/>
          </a:ln>
        </p:spPr>
      </p:sp>
      <p:sp>
        <p:nvSpPr>
          <p:cNvPr id="7" name="Text 5"/>
          <p:cNvSpPr/>
          <p:nvPr/>
        </p:nvSpPr>
        <p:spPr>
          <a:xfrm>
            <a:off x="6460236" y="1874520"/>
            <a:ext cx="457200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El Incremento</a:t>
            </a:r>
            <a:endParaRPr lang="en-US" sz="1300" dirty="0"/>
          </a:p>
        </p:txBody>
      </p:sp>
      <p:sp>
        <p:nvSpPr>
          <p:cNvPr id="8" name="Text 6"/>
          <p:cNvSpPr/>
          <p:nvPr/>
        </p:nvSpPr>
        <p:spPr>
          <a:xfrm>
            <a:off x="6551676" y="2377440"/>
            <a:ext cx="4572000" cy="2103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SIE-12 llega a la columna Done</a:t>
            </a:r>
            <a:endParaRPr lang="en-US" sz="1300" dirty="0"/>
          </a:p>
          <a:p>
            <a:pPr marL="342900" indent="-342900">
              <a:buSzPct val="100000"/>
              <a:buChar char="•"/>
            </a:pPr>
            <a:r>
              <a:rPr lang="en-US" sz="1300" dirty="0">
                <a:solidFill>
                  <a:srgbClr val="222222"/>
                </a:solidFill>
                <a:latin typeface="Calibri" pitchFamily="34" charset="0"/>
                <a:ea typeface="Calibri" pitchFamily="34" charset="-122"/>
                <a:cs typeface="Calibri" pitchFamily="34" charset="-120"/>
              </a:rPr>
              <a:t>Panel "Development": rama, commits y Pull Request de GitHub, vinculados automáticamente por la clave SIE-12</a:t>
            </a:r>
            <a:endParaRPr lang="en-US" sz="1300" dirty="0"/>
          </a:p>
        </p:txBody>
      </p:sp>
      <p:sp>
        <p:nvSpPr>
          <p:cNvPr id="9" name="Text 7"/>
          <p:cNvSpPr/>
          <p:nvPr/>
        </p:nvSpPr>
        <p:spPr>
          <a:xfrm>
            <a:off x="548640" y="5029200"/>
            <a:ext cx="11091672" cy="548640"/>
          </a:xfrm>
          <a:prstGeom prst="rect">
            <a:avLst/>
          </a:prstGeom>
          <a:noFill/>
          <a:ln/>
        </p:spPr>
        <p:txBody>
          <a:bodyPr wrap="square" lIns="0" tIns="0" rIns="0" bIns="0" rtlCol="0" anchor="ctr"/>
          <a:lstStyle/>
          <a:p>
            <a:pPr indent="0" marL="0">
              <a:buNone/>
            </a:pPr>
            <a:r>
              <a:rPr lang="en-US" sz="1400" i="1" dirty="0">
                <a:solidFill>
                  <a:srgbClr val="5A6472"/>
                </a:solidFill>
                <a:latin typeface="Calibri" pitchFamily="34" charset="0"/>
                <a:ea typeface="Calibri" pitchFamily="34" charset="-122"/>
                <a:cs typeface="Calibri" pitchFamily="34" charset="-120"/>
              </a:rPr>
              <a:t>Aquí se cierra el círculo completo: de la historia de usuario en el Backlog, al código real en GitHub, de vuelta a un Incremento verificado por el cliente.</a:t>
            </a:r>
            <a:endParaRPr lang="en-US" sz="1400" dirty="0"/>
          </a:p>
        </p:txBody>
      </p:sp>
      <p:sp>
        <p:nvSpPr>
          <p:cNvPr id="10" name="Text 8"/>
          <p:cNvSpPr/>
          <p:nvPr/>
        </p:nvSpPr>
        <p:spPr>
          <a:xfrm>
            <a:off x="548640" y="6446520"/>
            <a:ext cx="11091672" cy="274320"/>
          </a:xfrm>
          <a:prstGeom prst="rect">
            <a:avLst/>
          </a:prstGeom>
          <a:noFill/>
          <a:ln/>
        </p:spPr>
        <p:txBody>
          <a:bodyPr wrap="square" lIns="0" tIns="0" rIns="0" bIns="0" rtlCol="0" anchor="ctr"/>
          <a:lstStyle/>
          <a:p>
            <a:pPr algn="l" indent="0" marL="0">
              <a:buNone/>
            </a:pPr>
            <a:endParaRPr lang="en-US" sz="1000" dirty="0"/>
          </a:p>
        </p:txBody>
      </p:sp>
      <p:sp>
        <p:nvSpPr>
          <p:cNvPr id="11" name="Text 9"/>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Scrum en Jira · Roles, Artefactos, Eventos y su Mapeo</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lIns="0" tIns="0" rIns="0" bIns="0" rtlCol="0" anchor="t"/>
          <a:lstStyle/>
          <a:p>
            <a:pPr algn="l" indent="0" marL="0">
              <a:buNone/>
            </a:pPr>
            <a:r>
              <a:rPr lang="en-US" sz="2800" b="1" dirty="0">
                <a:solidFill>
                  <a:srgbClr val="1E2761"/>
                </a:solidFill>
                <a:latin typeface="Cambria" pitchFamily="34" charset="0"/>
                <a:ea typeface="Cambria" pitchFamily="34" charset="-122"/>
                <a:cs typeface="Cambria" pitchFamily="34" charset="-120"/>
              </a:rPr>
              <a:t>Glosario Rápido — Scrum ↔ Jira</a:t>
            </a:r>
            <a:endParaRPr lang="en-US" sz="2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3566160"/>
        </p:xfrm>
        <a:graphic>
          <a:graphicData uri="http://schemas.openxmlformats.org/drawingml/2006/table">
            <a:tbl>
              <a:tblPr/>
              <a:tblGrid>
                <a:gridCol w="5545836"/>
                <a:gridCol w="5545836"/>
              </a:tblGrid>
              <a:tr h="39624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Scrum</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E276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Jira</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1E2761"/>
                    </a:solidFill>
                  </a:tcPr>
                </a:tc>
              </a:tr>
              <a:tr h="39624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Product Backlog</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Backlog</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r>
              <a:tr h="39624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Historia de Usuario</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4F6F9"/>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Issue tipo "Story"</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4F6F9"/>
                    </a:solidFill>
                  </a:tcPr>
                </a:tc>
              </a:tr>
              <a:tr h="39624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Sprint Backlog</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Sprint activo (dentro del Backlog)</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r>
              <a:tr h="39624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Tablero de tareas</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4F6F9"/>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Board</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4F6F9"/>
                    </a:solidFill>
                  </a:tcPr>
                </a:tc>
              </a:tr>
              <a:tr h="39624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Incremento</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Columna "Done" al cerrar sprint</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r>
              <a:tr h="39624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Sprint Review</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4F6F9"/>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"Complete sprint" + demo fuera de Jira</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4F6F9"/>
                    </a:solidFill>
                  </a:tcPr>
                </a:tc>
              </a:tr>
              <a:tr h="39624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Retrospectiva</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Conversación fuera de Jira (no nativa)</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FFFFF"/>
                    </a:solidFill>
                  </a:tcPr>
                </a:tc>
              </a:tr>
              <a:tr h="396240">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Velocidad del equipo</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4F6F9"/>
                    </a:solidFill>
                  </a:tcPr>
                </a:tc>
                <a:tc>
                  <a:txBody>
                    <a:bodyPr/>
                    <a:lstStyle/>
                    <a:p>
                      <a:pPr indent="0" marL="0">
                        <a:buNone/>
                      </a:pPr>
                      <a:r>
                        <a:rPr lang="en-US" sz="1400" dirty="0">
                          <a:solidFill>
                            <a:srgbClr val="222222"/>
                          </a:solidFill>
                          <a:latin typeface="Calibri" pitchFamily="34" charset="0"/>
                          <a:ea typeface="Calibri" pitchFamily="34" charset="-122"/>
                          <a:cs typeface="Calibri" pitchFamily="34" charset="-120"/>
                        </a:rPr>
                        <a:t>Velocity Chart</a:t>
                      </a:r>
                      <a:endParaRPr lang="en-US" sz="1400" dirty="0">
                        <a:latin typeface="Calibri" charset="0"/>
                        <a:ea typeface="Calibri" charset="0"/>
                        <a:cs typeface="Calibri" charset="0"/>
                      </a:endParaRPr>
                    </a:p>
                  </a:txBody>
                  <a:tcPr marL="91440" marR="91440" marT="45720" marB="45720" anchor="ctr">
                    <a:lnL w="9525" cap="flat" cmpd="sng" algn="ctr">
                      <a:solidFill>
                        <a:srgbClr val="D9DEE6"/>
                      </a:solidFill>
                      <a:prstDash val="solid"/>
                      <a:round/>
                      <a:headEnd type="none" w="med" len="med"/>
                      <a:tailEnd type="none" w="med" len="med"/>
                    </a:lnL>
                    <a:lnR w="9525" cap="flat" cmpd="sng" algn="ctr">
                      <a:solidFill>
                        <a:srgbClr val="D9DEE6"/>
                      </a:solidFill>
                      <a:prstDash val="solid"/>
                      <a:round/>
                      <a:headEnd type="none" w="med" len="med"/>
                      <a:tailEnd type="none" w="med" len="med"/>
                    </a:lnR>
                    <a:lnT w="9525" cap="flat" cmpd="sng" algn="ctr">
                      <a:solidFill>
                        <a:srgbClr val="D9DEE6"/>
                      </a:solidFill>
                      <a:prstDash val="solid"/>
                      <a:round/>
                      <a:headEnd type="none" w="med" len="med"/>
                      <a:tailEnd type="none" w="med" len="med"/>
                    </a:lnT>
                    <a:lnB w="9525" cap="flat" cmpd="sng" algn="ctr">
                      <a:solidFill>
                        <a:srgbClr val="D9DEE6"/>
                      </a:solidFill>
                      <a:prstDash val="solid"/>
                      <a:round/>
                      <a:headEnd type="none" w="med" len="med"/>
                      <a:tailEnd type="none" w="med" len="med"/>
                    </a:lnB>
                    <a:solidFill>
                      <a:srgbClr val="F4F6F9"/>
                    </a:solidFill>
                  </a:tcPr>
                </a:tc>
              </a:tr>
            </a:tbl>
          </a:graphicData>
        </a:graphic>
      </p:graphicFrame>
      <p:sp>
        <p:nvSpPr>
          <p:cNvPr id="4" name="Text 1"/>
          <p:cNvSpPr/>
          <p:nvPr/>
        </p:nvSpPr>
        <p:spPr>
          <a:xfrm>
            <a:off x="548640" y="6446520"/>
            <a:ext cx="11091672" cy="274320"/>
          </a:xfrm>
          <a:prstGeom prst="rect">
            <a:avLst/>
          </a:prstGeom>
          <a:noFill/>
          <a:ln/>
        </p:spPr>
        <p:txBody>
          <a:bodyPr wrap="square" lIns="0" tIns="0" rIns="0" bIns="0" rtlCol="0" anchor="ctr"/>
          <a:lstStyle/>
          <a:p>
            <a:pPr algn="l" indent="0" marL="0">
              <a:buNone/>
            </a:pPr>
            <a:endParaRPr lang="en-US" sz="1000" dirty="0"/>
          </a:p>
        </p:txBody>
      </p:sp>
      <p:sp>
        <p:nvSpPr>
          <p:cNvPr id="5" name="Text 2"/>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Scrum en Jira · Roles, Artefactos, Eventos y su Mapeo</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822960"/>
          </a:xfrm>
          <a:prstGeom prst="rect">
            <a:avLst/>
          </a:prstGeom>
          <a:noFill/>
          <a:ln/>
        </p:spPr>
        <p:txBody>
          <a:bodyPr wrap="square" lIns="0" tIns="0" rIns="0" bIns="0" rtlCol="0" anchor="t"/>
          <a:lstStyle/>
          <a:p>
            <a:pPr algn="l" indent="0" marL="0">
              <a:buNone/>
            </a:pPr>
            <a:r>
              <a:rPr lang="en-US" sz="2800" b="1" dirty="0">
                <a:solidFill>
                  <a:srgbClr val="1E2761"/>
                </a:solidFill>
                <a:latin typeface="Cambria" pitchFamily="34" charset="0"/>
                <a:ea typeface="Cambria" pitchFamily="34" charset="-122"/>
                <a:cs typeface="Cambria" pitchFamily="34" charset="-120"/>
              </a:rPr>
              <a:t>Próximos Pasos</a:t>
            </a:r>
            <a:endParaRPr lang="en-US" sz="2800" dirty="0"/>
          </a:p>
        </p:txBody>
      </p:sp>
      <p:sp>
        <p:nvSpPr>
          <p:cNvPr id="3" name="Text 1"/>
          <p:cNvSpPr/>
          <p:nvPr/>
        </p:nvSpPr>
        <p:spPr>
          <a:xfrm>
            <a:off x="548640" y="1554480"/>
            <a:ext cx="11091672" cy="448056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Cada quien crea su cuenta y practica un sprint completo de forma individual</a:t>
            </a:r>
            <a:endParaRPr lang="en-US" sz="1700" dirty="0"/>
          </a:p>
          <a:p>
            <a:pPr marL="228600" indent="-228600">
              <a:lnSpc>
                <a:spcPct val="115000"/>
              </a:lnSpc>
              <a:spcAft>
                <a:spcPts val="1400"/>
              </a:spcAft>
              <a:buSzPct val="100000"/>
              <a:buChar char="•"/>
            </a:pPr>
            <a:r>
              <a:rPr lang="en-US" sz="1700" dirty="0">
                <a:solidFill>
                  <a:srgbClr val="222222"/>
                </a:solidFill>
                <a:latin typeface="Calibri" pitchFamily="34" charset="0"/>
                <a:ea typeface="Calibri" pitchFamily="34" charset="-122"/>
                <a:cs typeface="Calibri" pitchFamily="34" charset="-120"/>
              </a:rPr>
              <a:t>Después, el equipo crea su proyecto compartido y conecta su repositorio de GitHub</a:t>
            </a:r>
            <a:endParaRPr lang="en-US" sz="1700" dirty="0"/>
          </a:p>
          <a:p>
            <a:pPr marL="228600" indent="-228600">
              <a:lnSpc>
                <a:spcPct val="115000"/>
              </a:lnSpc>
              <a:spcAft>
                <a:spcPts val="1400"/>
              </a:spcAft>
              <a:buSzPct val="100000"/>
              <a:buChar char="•"/>
            </a:pPr>
            <a:r>
              <a:rPr lang="en-US" sz="1700" b="1" dirty="0">
                <a:solidFill>
                  <a:srgbClr val="222222"/>
                </a:solidFill>
                <a:latin typeface="Calibri" pitchFamily="34" charset="0"/>
                <a:ea typeface="Calibri" pitchFamily="34" charset="-122"/>
                <a:cs typeface="Calibri" pitchFamily="34" charset="-120"/>
              </a:rPr>
              <a:t>La convención de nombres de rama (clave de Jira + descripción) empieza a usarse desde la primera historia real del proyecto</a:t>
            </a:r>
            <a:endParaRPr lang="en-US" sz="1700" dirty="0"/>
          </a:p>
        </p:txBody>
      </p:sp>
      <p:sp>
        <p:nvSpPr>
          <p:cNvPr id="4" name="Text 2"/>
          <p:cNvSpPr/>
          <p:nvPr/>
        </p:nvSpPr>
        <p:spPr>
          <a:xfrm>
            <a:off x="548640" y="6446520"/>
            <a:ext cx="11091672" cy="274320"/>
          </a:xfrm>
          <a:prstGeom prst="rect">
            <a:avLst/>
          </a:prstGeom>
          <a:noFill/>
          <a:ln/>
        </p:spPr>
        <p:txBody>
          <a:bodyPr wrap="square" lIns="0" tIns="0" rIns="0" bIns="0" rtlCol="0" anchor="ctr"/>
          <a:lstStyle/>
          <a:p>
            <a:pPr algn="l" indent="0" marL="0">
              <a:buNone/>
            </a:pPr>
            <a:endParaRPr lang="en-US" sz="1000" dirty="0"/>
          </a:p>
        </p:txBody>
      </p:sp>
      <p:sp>
        <p:nvSpPr>
          <p:cNvPr id="5" name="Text 3"/>
          <p:cNvSpPr/>
          <p:nvPr/>
        </p:nvSpPr>
        <p:spPr>
          <a:xfrm>
            <a:off x="548640" y="6446520"/>
            <a:ext cx="11091672"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Scrum en Jira · Roles, Artefactos, Eventos y su Mapeo</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2026-08-18T02:02:35Z</dcterms:created>
  <dcterms:modified xsi:type="dcterms:W3CDTF">2026-08-18T02:02:35Z</dcterms:modified>
</cp:coreProperties>
</file>